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9" d="100"/>
          <a:sy n="69" d="100"/>
        </p:scale>
        <p:origin x="756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27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8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960120"/>
            <a:ext cx="5852160" cy="1508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</a:defRPr>
            </a:pPr>
            <a:r>
              <a:t>MNIST</a:t>
            </a:r>
            <a:br/>
            <a:r>
              <a:t>DIGIT CLASSIFICATION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58952" y="2633472"/>
            <a:ext cx="539496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000" b="0">
                <a:solidFill>
                  <a:srgbClr val="BEE1E1"/>
                </a:solidFill>
              </a:defRPr>
            </a:pPr>
            <a:r>
              <a:t>Handwritten digit recognition using Machine Learning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58952" y="3493008"/>
            <a:ext cx="1143000" cy="347472"/>
          </a:xfrm>
          <a:prstGeom prst="roundRect">
            <a:avLst/>
          </a:prstGeom>
          <a:solidFill>
            <a:srgbClr val="18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58952" y="3502151"/>
            <a:ext cx="1143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PYTHON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11680" y="3493008"/>
            <a:ext cx="1874519" cy="347472"/>
          </a:xfrm>
          <a:prstGeom prst="roundRect">
            <a:avLst/>
          </a:prstGeom>
          <a:solidFill>
            <a:srgbClr val="6E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011680" y="3502151"/>
            <a:ext cx="1874519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MACHINE LEARNING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041648" y="3493008"/>
            <a:ext cx="1783080" cy="347472"/>
          </a:xfrm>
          <a:prstGeom prst="roundRect">
            <a:avLst/>
          </a:prstGeom>
          <a:solidFill>
            <a:srgbClr val="EB6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041648" y="3502151"/>
            <a:ext cx="17830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COMPUTER VISION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95160" y="914400"/>
            <a:ext cx="4251960" cy="4251960"/>
          </a:xfrm>
          <a:prstGeom prst="roundRect">
            <a:avLst/>
          </a:prstGeom>
          <a:solidFill>
            <a:srgbClr val="2237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8138159" y="1929384"/>
            <a:ext cx="82296" cy="82296"/>
          </a:xfrm>
          <a:prstGeom prst="ellipse">
            <a:avLst/>
          </a:prstGeom>
          <a:solidFill>
            <a:srgbClr val="45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8266175" y="1929384"/>
            <a:ext cx="82296" cy="82296"/>
          </a:xfrm>
          <a:prstGeom prst="ellipse">
            <a:avLst/>
          </a:prstGeom>
          <a:solidFill>
            <a:srgbClr val="45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8394192" y="1929384"/>
            <a:ext cx="82296" cy="82296"/>
          </a:xfrm>
          <a:prstGeom prst="ellipse">
            <a:avLst/>
          </a:prstGeom>
          <a:solidFill>
            <a:srgbClr val="45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8522208" y="1929384"/>
            <a:ext cx="82296" cy="82296"/>
          </a:xfrm>
          <a:prstGeom prst="ellipse">
            <a:avLst/>
          </a:prstGeom>
          <a:solidFill>
            <a:srgbClr val="45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8650224" y="1929384"/>
            <a:ext cx="82296" cy="82296"/>
          </a:xfrm>
          <a:prstGeom prst="ellipse">
            <a:avLst/>
          </a:prstGeom>
          <a:solidFill>
            <a:srgbClr val="45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8778240" y="1929384"/>
            <a:ext cx="82296" cy="82296"/>
          </a:xfrm>
          <a:prstGeom prst="ellipse">
            <a:avLst/>
          </a:prstGeom>
          <a:solidFill>
            <a:srgbClr val="45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8906255" y="1929384"/>
            <a:ext cx="82296" cy="82296"/>
          </a:xfrm>
          <a:prstGeom prst="ellipse">
            <a:avLst/>
          </a:prstGeom>
          <a:solidFill>
            <a:srgbClr val="45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9034272" y="1929384"/>
            <a:ext cx="82296" cy="82296"/>
          </a:xfrm>
          <a:prstGeom prst="ellipse">
            <a:avLst/>
          </a:prstGeom>
          <a:solidFill>
            <a:srgbClr val="45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9162288" y="1929384"/>
            <a:ext cx="82296" cy="82296"/>
          </a:xfrm>
          <a:prstGeom prst="ellipse">
            <a:avLst/>
          </a:prstGeom>
          <a:solidFill>
            <a:srgbClr val="45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9290304" y="1929384"/>
            <a:ext cx="82296" cy="82296"/>
          </a:xfrm>
          <a:prstGeom prst="ellipse">
            <a:avLst/>
          </a:prstGeom>
          <a:solidFill>
            <a:srgbClr val="45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9418319" y="1929384"/>
            <a:ext cx="82296" cy="82296"/>
          </a:xfrm>
          <a:prstGeom prst="ellipse">
            <a:avLst/>
          </a:prstGeom>
          <a:solidFill>
            <a:srgbClr val="45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9546336" y="1929384"/>
            <a:ext cx="82296" cy="82296"/>
          </a:xfrm>
          <a:prstGeom prst="ellipse">
            <a:avLst/>
          </a:prstGeom>
          <a:solidFill>
            <a:srgbClr val="45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Oval 24"/>
          <p:cNvSpPr/>
          <p:nvPr/>
        </p:nvSpPr>
        <p:spPr>
          <a:xfrm>
            <a:off x="9674352" y="1929384"/>
            <a:ext cx="82296" cy="82296"/>
          </a:xfrm>
          <a:prstGeom prst="ellipse">
            <a:avLst/>
          </a:prstGeom>
          <a:solidFill>
            <a:srgbClr val="45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9802367" y="1929384"/>
            <a:ext cx="82296" cy="82296"/>
          </a:xfrm>
          <a:prstGeom prst="ellipse">
            <a:avLst/>
          </a:prstGeom>
          <a:solidFill>
            <a:srgbClr val="45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9930384" y="1929384"/>
            <a:ext cx="82296" cy="82296"/>
          </a:xfrm>
          <a:prstGeom prst="ellipse">
            <a:avLst/>
          </a:prstGeom>
          <a:solidFill>
            <a:srgbClr val="45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10058400" y="1929384"/>
            <a:ext cx="82296" cy="82296"/>
          </a:xfrm>
          <a:prstGeom prst="ellipse">
            <a:avLst/>
          </a:prstGeom>
          <a:solidFill>
            <a:srgbClr val="45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10186416" y="1929384"/>
            <a:ext cx="82296" cy="82296"/>
          </a:xfrm>
          <a:prstGeom prst="ellipse">
            <a:avLst/>
          </a:prstGeom>
          <a:solidFill>
            <a:srgbClr val="45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10314432" y="1929384"/>
            <a:ext cx="82296" cy="82296"/>
          </a:xfrm>
          <a:prstGeom prst="ellipse">
            <a:avLst/>
          </a:prstGeom>
          <a:solidFill>
            <a:srgbClr val="45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8138159" y="2057400"/>
            <a:ext cx="82296" cy="82296"/>
          </a:xfrm>
          <a:prstGeom prst="ellipse">
            <a:avLst/>
          </a:prstGeom>
          <a:solidFill>
            <a:srgbClr val="45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8266175" y="2057400"/>
            <a:ext cx="82296" cy="82296"/>
          </a:xfrm>
          <a:prstGeom prst="ellipse">
            <a:avLst/>
          </a:prstGeom>
          <a:solidFill>
            <a:srgbClr val="45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8394192" y="2057400"/>
            <a:ext cx="82296" cy="82296"/>
          </a:xfrm>
          <a:prstGeom prst="ellipse">
            <a:avLst/>
          </a:prstGeom>
          <a:solidFill>
            <a:srgbClr val="45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Oval 33"/>
          <p:cNvSpPr/>
          <p:nvPr/>
        </p:nvSpPr>
        <p:spPr>
          <a:xfrm>
            <a:off x="8522208" y="2057400"/>
            <a:ext cx="82296" cy="82296"/>
          </a:xfrm>
          <a:prstGeom prst="ellipse">
            <a:avLst/>
          </a:prstGeom>
          <a:solidFill>
            <a:srgbClr val="45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Oval 34"/>
          <p:cNvSpPr/>
          <p:nvPr/>
        </p:nvSpPr>
        <p:spPr>
          <a:xfrm>
            <a:off x="8650224" y="2057400"/>
            <a:ext cx="82296" cy="82296"/>
          </a:xfrm>
          <a:prstGeom prst="ellipse">
            <a:avLst/>
          </a:prstGeom>
          <a:solidFill>
            <a:srgbClr val="45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Oval 35"/>
          <p:cNvSpPr/>
          <p:nvPr/>
        </p:nvSpPr>
        <p:spPr>
          <a:xfrm>
            <a:off x="8778240" y="2057400"/>
            <a:ext cx="82296" cy="82296"/>
          </a:xfrm>
          <a:prstGeom prst="ellipse">
            <a:avLst/>
          </a:prstGeom>
          <a:solidFill>
            <a:srgbClr val="45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8906255" y="2057400"/>
            <a:ext cx="82296" cy="82296"/>
          </a:xfrm>
          <a:prstGeom prst="ellipse">
            <a:avLst/>
          </a:prstGeom>
          <a:solidFill>
            <a:srgbClr val="45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9034272" y="2057400"/>
            <a:ext cx="82296" cy="82296"/>
          </a:xfrm>
          <a:prstGeom prst="ellipse">
            <a:avLst/>
          </a:prstGeom>
          <a:solidFill>
            <a:srgbClr val="45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Oval 38"/>
          <p:cNvSpPr/>
          <p:nvPr/>
        </p:nvSpPr>
        <p:spPr>
          <a:xfrm>
            <a:off x="9162288" y="2057400"/>
            <a:ext cx="82296" cy="82296"/>
          </a:xfrm>
          <a:prstGeom prst="ellipse">
            <a:avLst/>
          </a:prstGeom>
          <a:solidFill>
            <a:srgbClr val="45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Oval 39"/>
          <p:cNvSpPr/>
          <p:nvPr/>
        </p:nvSpPr>
        <p:spPr>
          <a:xfrm>
            <a:off x="9290304" y="2057400"/>
            <a:ext cx="82296" cy="82296"/>
          </a:xfrm>
          <a:prstGeom prst="ellipse">
            <a:avLst/>
          </a:prstGeom>
          <a:solidFill>
            <a:srgbClr val="45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Oval 40"/>
          <p:cNvSpPr/>
          <p:nvPr/>
        </p:nvSpPr>
        <p:spPr>
          <a:xfrm>
            <a:off x="9418319" y="2057400"/>
            <a:ext cx="82296" cy="82296"/>
          </a:xfrm>
          <a:prstGeom prst="ellipse">
            <a:avLst/>
          </a:prstGeom>
          <a:solidFill>
            <a:srgbClr val="45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Oval 41"/>
          <p:cNvSpPr/>
          <p:nvPr/>
        </p:nvSpPr>
        <p:spPr>
          <a:xfrm>
            <a:off x="9546336" y="2057400"/>
            <a:ext cx="82296" cy="82296"/>
          </a:xfrm>
          <a:prstGeom prst="ellipse">
            <a:avLst/>
          </a:prstGeom>
          <a:solidFill>
            <a:srgbClr val="45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9674352" y="2057400"/>
            <a:ext cx="82296" cy="82296"/>
          </a:xfrm>
          <a:prstGeom prst="ellipse">
            <a:avLst/>
          </a:prstGeom>
          <a:solidFill>
            <a:srgbClr val="45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Oval 43"/>
          <p:cNvSpPr/>
          <p:nvPr/>
        </p:nvSpPr>
        <p:spPr>
          <a:xfrm>
            <a:off x="9802367" y="2057400"/>
            <a:ext cx="82296" cy="82296"/>
          </a:xfrm>
          <a:prstGeom prst="ellipse">
            <a:avLst/>
          </a:prstGeom>
          <a:solidFill>
            <a:srgbClr val="45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Oval 44"/>
          <p:cNvSpPr/>
          <p:nvPr/>
        </p:nvSpPr>
        <p:spPr>
          <a:xfrm>
            <a:off x="9930384" y="2057400"/>
            <a:ext cx="82296" cy="82296"/>
          </a:xfrm>
          <a:prstGeom prst="ellipse">
            <a:avLst/>
          </a:prstGeom>
          <a:solidFill>
            <a:srgbClr val="45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Oval 45"/>
          <p:cNvSpPr/>
          <p:nvPr/>
        </p:nvSpPr>
        <p:spPr>
          <a:xfrm>
            <a:off x="10058400" y="2057400"/>
            <a:ext cx="82296" cy="82296"/>
          </a:xfrm>
          <a:prstGeom prst="ellipse">
            <a:avLst/>
          </a:prstGeom>
          <a:solidFill>
            <a:srgbClr val="45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Oval 46"/>
          <p:cNvSpPr/>
          <p:nvPr/>
        </p:nvSpPr>
        <p:spPr>
          <a:xfrm>
            <a:off x="10186416" y="2057400"/>
            <a:ext cx="82296" cy="82296"/>
          </a:xfrm>
          <a:prstGeom prst="ellipse">
            <a:avLst/>
          </a:prstGeom>
          <a:solidFill>
            <a:srgbClr val="45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Oval 47"/>
          <p:cNvSpPr/>
          <p:nvPr/>
        </p:nvSpPr>
        <p:spPr>
          <a:xfrm>
            <a:off x="10314432" y="2057400"/>
            <a:ext cx="82296" cy="82296"/>
          </a:xfrm>
          <a:prstGeom prst="ellipse">
            <a:avLst/>
          </a:prstGeom>
          <a:solidFill>
            <a:srgbClr val="45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Oval 48"/>
          <p:cNvSpPr/>
          <p:nvPr/>
        </p:nvSpPr>
        <p:spPr>
          <a:xfrm>
            <a:off x="8138159" y="2185416"/>
            <a:ext cx="82296" cy="82296"/>
          </a:xfrm>
          <a:prstGeom prst="ellipse">
            <a:avLst/>
          </a:prstGeom>
          <a:solidFill>
            <a:srgbClr val="45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Oval 49"/>
          <p:cNvSpPr/>
          <p:nvPr/>
        </p:nvSpPr>
        <p:spPr>
          <a:xfrm>
            <a:off x="8266175" y="2185416"/>
            <a:ext cx="82296" cy="82296"/>
          </a:xfrm>
          <a:prstGeom prst="ellipse">
            <a:avLst/>
          </a:prstGeom>
          <a:solidFill>
            <a:srgbClr val="45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Oval 50"/>
          <p:cNvSpPr/>
          <p:nvPr/>
        </p:nvSpPr>
        <p:spPr>
          <a:xfrm>
            <a:off x="8394192" y="2185416"/>
            <a:ext cx="82296" cy="82296"/>
          </a:xfrm>
          <a:prstGeom prst="ellipse">
            <a:avLst/>
          </a:prstGeom>
          <a:solidFill>
            <a:srgbClr val="45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Oval 51"/>
          <p:cNvSpPr/>
          <p:nvPr/>
        </p:nvSpPr>
        <p:spPr>
          <a:xfrm>
            <a:off x="8522208" y="2185416"/>
            <a:ext cx="82296" cy="82296"/>
          </a:xfrm>
          <a:prstGeom prst="ellipse">
            <a:avLst/>
          </a:prstGeom>
          <a:solidFill>
            <a:srgbClr val="45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Oval 52"/>
          <p:cNvSpPr/>
          <p:nvPr/>
        </p:nvSpPr>
        <p:spPr>
          <a:xfrm>
            <a:off x="8650224" y="2185416"/>
            <a:ext cx="82296" cy="82296"/>
          </a:xfrm>
          <a:prstGeom prst="ellipse">
            <a:avLst/>
          </a:prstGeom>
          <a:solidFill>
            <a:srgbClr val="45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Oval 53"/>
          <p:cNvSpPr/>
          <p:nvPr/>
        </p:nvSpPr>
        <p:spPr>
          <a:xfrm>
            <a:off x="8778240" y="2185416"/>
            <a:ext cx="82296" cy="82296"/>
          </a:xfrm>
          <a:prstGeom prst="ellipse">
            <a:avLst/>
          </a:prstGeom>
          <a:solidFill>
            <a:srgbClr val="45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Oval 54"/>
          <p:cNvSpPr/>
          <p:nvPr/>
        </p:nvSpPr>
        <p:spPr>
          <a:xfrm>
            <a:off x="8906255" y="2185416"/>
            <a:ext cx="82296" cy="82296"/>
          </a:xfrm>
          <a:prstGeom prst="ellipse">
            <a:avLst/>
          </a:prstGeom>
          <a:solidFill>
            <a:srgbClr val="45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Oval 55"/>
          <p:cNvSpPr/>
          <p:nvPr/>
        </p:nvSpPr>
        <p:spPr>
          <a:xfrm>
            <a:off x="9034272" y="2185416"/>
            <a:ext cx="82296" cy="82296"/>
          </a:xfrm>
          <a:prstGeom prst="ellipse">
            <a:avLst/>
          </a:prstGeom>
          <a:solidFill>
            <a:srgbClr val="45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Oval 56"/>
          <p:cNvSpPr/>
          <p:nvPr/>
        </p:nvSpPr>
        <p:spPr>
          <a:xfrm>
            <a:off x="9162288" y="2185416"/>
            <a:ext cx="82296" cy="82296"/>
          </a:xfrm>
          <a:prstGeom prst="ellipse">
            <a:avLst/>
          </a:prstGeom>
          <a:solidFill>
            <a:srgbClr val="45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Oval 57"/>
          <p:cNvSpPr/>
          <p:nvPr/>
        </p:nvSpPr>
        <p:spPr>
          <a:xfrm>
            <a:off x="9290304" y="2185416"/>
            <a:ext cx="82296" cy="82296"/>
          </a:xfrm>
          <a:prstGeom prst="ellipse">
            <a:avLst/>
          </a:prstGeom>
          <a:solidFill>
            <a:srgbClr val="45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Oval 58"/>
          <p:cNvSpPr/>
          <p:nvPr/>
        </p:nvSpPr>
        <p:spPr>
          <a:xfrm>
            <a:off x="9418319" y="2185416"/>
            <a:ext cx="82296" cy="82296"/>
          </a:xfrm>
          <a:prstGeom prst="ellipse">
            <a:avLst/>
          </a:prstGeom>
          <a:solidFill>
            <a:srgbClr val="45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Oval 59"/>
          <p:cNvSpPr/>
          <p:nvPr/>
        </p:nvSpPr>
        <p:spPr>
          <a:xfrm>
            <a:off x="9546336" y="2185416"/>
            <a:ext cx="82296" cy="82296"/>
          </a:xfrm>
          <a:prstGeom prst="ellipse">
            <a:avLst/>
          </a:prstGeom>
          <a:solidFill>
            <a:srgbClr val="45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Oval 60"/>
          <p:cNvSpPr/>
          <p:nvPr/>
        </p:nvSpPr>
        <p:spPr>
          <a:xfrm>
            <a:off x="9674352" y="2185416"/>
            <a:ext cx="82296" cy="82296"/>
          </a:xfrm>
          <a:prstGeom prst="ellipse">
            <a:avLst/>
          </a:prstGeom>
          <a:solidFill>
            <a:srgbClr val="45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Oval 61"/>
          <p:cNvSpPr/>
          <p:nvPr/>
        </p:nvSpPr>
        <p:spPr>
          <a:xfrm>
            <a:off x="9802367" y="2185416"/>
            <a:ext cx="82296" cy="82296"/>
          </a:xfrm>
          <a:prstGeom prst="ellipse">
            <a:avLst/>
          </a:prstGeom>
          <a:solidFill>
            <a:srgbClr val="45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Oval 62"/>
          <p:cNvSpPr/>
          <p:nvPr/>
        </p:nvSpPr>
        <p:spPr>
          <a:xfrm>
            <a:off x="9930384" y="2185416"/>
            <a:ext cx="82296" cy="82296"/>
          </a:xfrm>
          <a:prstGeom prst="ellipse">
            <a:avLst/>
          </a:prstGeom>
          <a:solidFill>
            <a:srgbClr val="45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Oval 63"/>
          <p:cNvSpPr/>
          <p:nvPr/>
        </p:nvSpPr>
        <p:spPr>
          <a:xfrm>
            <a:off x="10058400" y="2185416"/>
            <a:ext cx="82296" cy="82296"/>
          </a:xfrm>
          <a:prstGeom prst="ellipse">
            <a:avLst/>
          </a:prstGeom>
          <a:solidFill>
            <a:srgbClr val="45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Oval 64"/>
          <p:cNvSpPr/>
          <p:nvPr/>
        </p:nvSpPr>
        <p:spPr>
          <a:xfrm>
            <a:off x="10186416" y="2185416"/>
            <a:ext cx="82296" cy="82296"/>
          </a:xfrm>
          <a:prstGeom prst="ellipse">
            <a:avLst/>
          </a:prstGeom>
          <a:solidFill>
            <a:srgbClr val="45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Oval 65"/>
          <p:cNvSpPr/>
          <p:nvPr/>
        </p:nvSpPr>
        <p:spPr>
          <a:xfrm>
            <a:off x="10314432" y="2185416"/>
            <a:ext cx="82296" cy="82296"/>
          </a:xfrm>
          <a:prstGeom prst="ellipse">
            <a:avLst/>
          </a:prstGeom>
          <a:solidFill>
            <a:srgbClr val="45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Oval 66"/>
          <p:cNvSpPr/>
          <p:nvPr/>
        </p:nvSpPr>
        <p:spPr>
          <a:xfrm>
            <a:off x="8138159" y="2313432"/>
            <a:ext cx="82296" cy="82296"/>
          </a:xfrm>
          <a:prstGeom prst="ellipse">
            <a:avLst/>
          </a:prstGeom>
          <a:solidFill>
            <a:srgbClr val="45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Oval 67"/>
          <p:cNvSpPr/>
          <p:nvPr/>
        </p:nvSpPr>
        <p:spPr>
          <a:xfrm>
            <a:off x="8266175" y="2313432"/>
            <a:ext cx="82296" cy="82296"/>
          </a:xfrm>
          <a:prstGeom prst="ellipse">
            <a:avLst/>
          </a:prstGeom>
          <a:solidFill>
            <a:srgbClr val="45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Oval 68"/>
          <p:cNvSpPr/>
          <p:nvPr/>
        </p:nvSpPr>
        <p:spPr>
          <a:xfrm>
            <a:off x="8394192" y="2313432"/>
            <a:ext cx="82296" cy="82296"/>
          </a:xfrm>
          <a:prstGeom prst="ellipse">
            <a:avLst/>
          </a:prstGeom>
          <a:solidFill>
            <a:srgbClr val="45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Oval 69"/>
          <p:cNvSpPr/>
          <p:nvPr/>
        </p:nvSpPr>
        <p:spPr>
          <a:xfrm>
            <a:off x="8522208" y="2313432"/>
            <a:ext cx="82296" cy="82296"/>
          </a:xfrm>
          <a:prstGeom prst="ellipse">
            <a:avLst/>
          </a:prstGeom>
          <a:solidFill>
            <a:srgbClr val="45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Oval 70"/>
          <p:cNvSpPr/>
          <p:nvPr/>
        </p:nvSpPr>
        <p:spPr>
          <a:xfrm>
            <a:off x="8650224" y="2313432"/>
            <a:ext cx="82296" cy="82296"/>
          </a:xfrm>
          <a:prstGeom prst="ellipse">
            <a:avLst/>
          </a:prstGeom>
          <a:solidFill>
            <a:srgbClr val="45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Oval 71"/>
          <p:cNvSpPr/>
          <p:nvPr/>
        </p:nvSpPr>
        <p:spPr>
          <a:xfrm>
            <a:off x="8778240" y="2313432"/>
            <a:ext cx="82296" cy="82296"/>
          </a:xfrm>
          <a:prstGeom prst="ellipse">
            <a:avLst/>
          </a:prstGeom>
          <a:solidFill>
            <a:srgbClr val="45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Oval 72"/>
          <p:cNvSpPr/>
          <p:nvPr/>
        </p:nvSpPr>
        <p:spPr>
          <a:xfrm>
            <a:off x="8906255" y="2313432"/>
            <a:ext cx="82296" cy="82296"/>
          </a:xfrm>
          <a:prstGeom prst="ellipse">
            <a:avLst/>
          </a:prstGeom>
          <a:solidFill>
            <a:srgbClr val="45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Oval 73"/>
          <p:cNvSpPr/>
          <p:nvPr/>
        </p:nvSpPr>
        <p:spPr>
          <a:xfrm>
            <a:off x="9034272" y="2313432"/>
            <a:ext cx="82296" cy="82296"/>
          </a:xfrm>
          <a:prstGeom prst="ellipse">
            <a:avLst/>
          </a:prstGeom>
          <a:solidFill>
            <a:srgbClr val="45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Oval 74"/>
          <p:cNvSpPr/>
          <p:nvPr/>
        </p:nvSpPr>
        <p:spPr>
          <a:xfrm>
            <a:off x="9162288" y="2313432"/>
            <a:ext cx="82296" cy="82296"/>
          </a:xfrm>
          <a:prstGeom prst="ellipse">
            <a:avLst/>
          </a:prstGeom>
          <a:solidFill>
            <a:srgbClr val="45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Oval 75"/>
          <p:cNvSpPr/>
          <p:nvPr/>
        </p:nvSpPr>
        <p:spPr>
          <a:xfrm>
            <a:off x="9290304" y="2313432"/>
            <a:ext cx="82296" cy="82296"/>
          </a:xfrm>
          <a:prstGeom prst="ellipse">
            <a:avLst/>
          </a:prstGeom>
          <a:solidFill>
            <a:srgbClr val="45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Oval 76"/>
          <p:cNvSpPr/>
          <p:nvPr/>
        </p:nvSpPr>
        <p:spPr>
          <a:xfrm>
            <a:off x="9418319" y="2313432"/>
            <a:ext cx="82296" cy="82296"/>
          </a:xfrm>
          <a:prstGeom prst="ellipse">
            <a:avLst/>
          </a:prstGeom>
          <a:solidFill>
            <a:srgbClr val="45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Oval 77"/>
          <p:cNvSpPr/>
          <p:nvPr/>
        </p:nvSpPr>
        <p:spPr>
          <a:xfrm>
            <a:off x="9546336" y="2313432"/>
            <a:ext cx="82296" cy="82296"/>
          </a:xfrm>
          <a:prstGeom prst="ellipse">
            <a:avLst/>
          </a:prstGeom>
          <a:solidFill>
            <a:srgbClr val="45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Oval 78"/>
          <p:cNvSpPr/>
          <p:nvPr/>
        </p:nvSpPr>
        <p:spPr>
          <a:xfrm>
            <a:off x="9674352" y="2313432"/>
            <a:ext cx="82296" cy="82296"/>
          </a:xfrm>
          <a:prstGeom prst="ellipse">
            <a:avLst/>
          </a:prstGeom>
          <a:solidFill>
            <a:srgbClr val="45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Oval 79"/>
          <p:cNvSpPr/>
          <p:nvPr/>
        </p:nvSpPr>
        <p:spPr>
          <a:xfrm>
            <a:off x="9802367" y="2313432"/>
            <a:ext cx="82296" cy="82296"/>
          </a:xfrm>
          <a:prstGeom prst="ellipse">
            <a:avLst/>
          </a:prstGeom>
          <a:solidFill>
            <a:srgbClr val="45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Oval 80"/>
          <p:cNvSpPr/>
          <p:nvPr/>
        </p:nvSpPr>
        <p:spPr>
          <a:xfrm>
            <a:off x="9930384" y="2313432"/>
            <a:ext cx="82296" cy="82296"/>
          </a:xfrm>
          <a:prstGeom prst="ellipse">
            <a:avLst/>
          </a:prstGeom>
          <a:solidFill>
            <a:srgbClr val="45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Oval 81"/>
          <p:cNvSpPr/>
          <p:nvPr/>
        </p:nvSpPr>
        <p:spPr>
          <a:xfrm>
            <a:off x="10058400" y="2313432"/>
            <a:ext cx="82296" cy="82296"/>
          </a:xfrm>
          <a:prstGeom prst="ellipse">
            <a:avLst/>
          </a:prstGeom>
          <a:solidFill>
            <a:srgbClr val="45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Oval 82"/>
          <p:cNvSpPr/>
          <p:nvPr/>
        </p:nvSpPr>
        <p:spPr>
          <a:xfrm>
            <a:off x="10186416" y="2313432"/>
            <a:ext cx="82296" cy="82296"/>
          </a:xfrm>
          <a:prstGeom prst="ellipse">
            <a:avLst/>
          </a:prstGeom>
          <a:solidFill>
            <a:srgbClr val="45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Oval 83"/>
          <p:cNvSpPr/>
          <p:nvPr/>
        </p:nvSpPr>
        <p:spPr>
          <a:xfrm>
            <a:off x="10314432" y="2313432"/>
            <a:ext cx="82296" cy="82296"/>
          </a:xfrm>
          <a:prstGeom prst="ellipse">
            <a:avLst/>
          </a:prstGeom>
          <a:solidFill>
            <a:srgbClr val="45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Oval 84"/>
          <p:cNvSpPr/>
          <p:nvPr/>
        </p:nvSpPr>
        <p:spPr>
          <a:xfrm>
            <a:off x="9802367" y="2441448"/>
            <a:ext cx="82296" cy="82296"/>
          </a:xfrm>
          <a:prstGeom prst="ellipse">
            <a:avLst/>
          </a:prstGeom>
          <a:solidFill>
            <a:srgbClr val="45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Oval 85"/>
          <p:cNvSpPr/>
          <p:nvPr/>
        </p:nvSpPr>
        <p:spPr>
          <a:xfrm>
            <a:off x="9930384" y="2441448"/>
            <a:ext cx="82296" cy="82296"/>
          </a:xfrm>
          <a:prstGeom prst="ellipse">
            <a:avLst/>
          </a:prstGeom>
          <a:solidFill>
            <a:srgbClr val="45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Oval 86"/>
          <p:cNvSpPr/>
          <p:nvPr/>
        </p:nvSpPr>
        <p:spPr>
          <a:xfrm>
            <a:off x="10058400" y="2441448"/>
            <a:ext cx="82296" cy="82296"/>
          </a:xfrm>
          <a:prstGeom prst="ellipse">
            <a:avLst/>
          </a:prstGeom>
          <a:solidFill>
            <a:srgbClr val="45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Oval 87"/>
          <p:cNvSpPr/>
          <p:nvPr/>
        </p:nvSpPr>
        <p:spPr>
          <a:xfrm>
            <a:off x="10186416" y="2441448"/>
            <a:ext cx="82296" cy="82296"/>
          </a:xfrm>
          <a:prstGeom prst="ellipse">
            <a:avLst/>
          </a:prstGeom>
          <a:solidFill>
            <a:srgbClr val="45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Oval 88"/>
          <p:cNvSpPr/>
          <p:nvPr/>
        </p:nvSpPr>
        <p:spPr>
          <a:xfrm>
            <a:off x="10314432" y="2441448"/>
            <a:ext cx="82296" cy="82296"/>
          </a:xfrm>
          <a:prstGeom prst="ellipse">
            <a:avLst/>
          </a:prstGeom>
          <a:solidFill>
            <a:srgbClr val="45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Oval 89"/>
          <p:cNvSpPr/>
          <p:nvPr/>
        </p:nvSpPr>
        <p:spPr>
          <a:xfrm>
            <a:off x="9802367" y="2569464"/>
            <a:ext cx="82296" cy="82296"/>
          </a:xfrm>
          <a:prstGeom prst="ellipse">
            <a:avLst/>
          </a:prstGeom>
          <a:solidFill>
            <a:srgbClr val="45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Oval 90"/>
          <p:cNvSpPr/>
          <p:nvPr/>
        </p:nvSpPr>
        <p:spPr>
          <a:xfrm>
            <a:off x="9930384" y="2569464"/>
            <a:ext cx="82296" cy="82296"/>
          </a:xfrm>
          <a:prstGeom prst="ellipse">
            <a:avLst/>
          </a:prstGeom>
          <a:solidFill>
            <a:srgbClr val="45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Oval 91"/>
          <p:cNvSpPr/>
          <p:nvPr/>
        </p:nvSpPr>
        <p:spPr>
          <a:xfrm>
            <a:off x="10058400" y="2569464"/>
            <a:ext cx="82296" cy="82296"/>
          </a:xfrm>
          <a:prstGeom prst="ellipse">
            <a:avLst/>
          </a:prstGeom>
          <a:solidFill>
            <a:srgbClr val="45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Oval 92"/>
          <p:cNvSpPr/>
          <p:nvPr/>
        </p:nvSpPr>
        <p:spPr>
          <a:xfrm>
            <a:off x="10186416" y="2569464"/>
            <a:ext cx="82296" cy="82296"/>
          </a:xfrm>
          <a:prstGeom prst="ellipse">
            <a:avLst/>
          </a:prstGeom>
          <a:solidFill>
            <a:srgbClr val="45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Oval 93"/>
          <p:cNvSpPr/>
          <p:nvPr/>
        </p:nvSpPr>
        <p:spPr>
          <a:xfrm>
            <a:off x="10314432" y="2569464"/>
            <a:ext cx="82296" cy="82296"/>
          </a:xfrm>
          <a:prstGeom prst="ellipse">
            <a:avLst/>
          </a:prstGeom>
          <a:solidFill>
            <a:srgbClr val="45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Oval 94"/>
          <p:cNvSpPr/>
          <p:nvPr/>
        </p:nvSpPr>
        <p:spPr>
          <a:xfrm>
            <a:off x="9802367" y="2697480"/>
            <a:ext cx="82296" cy="82296"/>
          </a:xfrm>
          <a:prstGeom prst="ellipse">
            <a:avLst/>
          </a:prstGeom>
          <a:solidFill>
            <a:srgbClr val="45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Oval 95"/>
          <p:cNvSpPr/>
          <p:nvPr/>
        </p:nvSpPr>
        <p:spPr>
          <a:xfrm>
            <a:off x="9930384" y="2697480"/>
            <a:ext cx="82296" cy="82296"/>
          </a:xfrm>
          <a:prstGeom prst="ellipse">
            <a:avLst/>
          </a:prstGeom>
          <a:solidFill>
            <a:srgbClr val="45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Oval 96"/>
          <p:cNvSpPr/>
          <p:nvPr/>
        </p:nvSpPr>
        <p:spPr>
          <a:xfrm>
            <a:off x="10058400" y="2697480"/>
            <a:ext cx="82296" cy="82296"/>
          </a:xfrm>
          <a:prstGeom prst="ellipse">
            <a:avLst/>
          </a:prstGeom>
          <a:solidFill>
            <a:srgbClr val="45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Oval 97"/>
          <p:cNvSpPr/>
          <p:nvPr/>
        </p:nvSpPr>
        <p:spPr>
          <a:xfrm>
            <a:off x="10186416" y="2697480"/>
            <a:ext cx="82296" cy="82296"/>
          </a:xfrm>
          <a:prstGeom prst="ellipse">
            <a:avLst/>
          </a:prstGeom>
          <a:solidFill>
            <a:srgbClr val="45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Oval 98"/>
          <p:cNvSpPr/>
          <p:nvPr/>
        </p:nvSpPr>
        <p:spPr>
          <a:xfrm>
            <a:off x="10314432" y="2697480"/>
            <a:ext cx="82296" cy="82296"/>
          </a:xfrm>
          <a:prstGeom prst="ellipse">
            <a:avLst/>
          </a:prstGeom>
          <a:solidFill>
            <a:srgbClr val="45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Oval 99"/>
          <p:cNvSpPr/>
          <p:nvPr/>
        </p:nvSpPr>
        <p:spPr>
          <a:xfrm>
            <a:off x="9802367" y="2825496"/>
            <a:ext cx="82296" cy="82296"/>
          </a:xfrm>
          <a:prstGeom prst="ellipse">
            <a:avLst/>
          </a:prstGeom>
          <a:solidFill>
            <a:srgbClr val="45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Oval 100"/>
          <p:cNvSpPr/>
          <p:nvPr/>
        </p:nvSpPr>
        <p:spPr>
          <a:xfrm>
            <a:off x="9930384" y="2825496"/>
            <a:ext cx="82296" cy="82296"/>
          </a:xfrm>
          <a:prstGeom prst="ellipse">
            <a:avLst/>
          </a:prstGeom>
          <a:solidFill>
            <a:srgbClr val="45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Oval 101"/>
          <p:cNvSpPr/>
          <p:nvPr/>
        </p:nvSpPr>
        <p:spPr>
          <a:xfrm>
            <a:off x="10058400" y="2825496"/>
            <a:ext cx="82296" cy="82296"/>
          </a:xfrm>
          <a:prstGeom prst="ellipse">
            <a:avLst/>
          </a:prstGeom>
          <a:solidFill>
            <a:srgbClr val="45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Oval 102"/>
          <p:cNvSpPr/>
          <p:nvPr/>
        </p:nvSpPr>
        <p:spPr>
          <a:xfrm>
            <a:off x="10186416" y="2825496"/>
            <a:ext cx="82296" cy="82296"/>
          </a:xfrm>
          <a:prstGeom prst="ellipse">
            <a:avLst/>
          </a:prstGeom>
          <a:solidFill>
            <a:srgbClr val="45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Oval 103"/>
          <p:cNvSpPr/>
          <p:nvPr/>
        </p:nvSpPr>
        <p:spPr>
          <a:xfrm>
            <a:off x="10314432" y="2825496"/>
            <a:ext cx="82296" cy="82296"/>
          </a:xfrm>
          <a:prstGeom prst="ellipse">
            <a:avLst/>
          </a:prstGeom>
          <a:solidFill>
            <a:srgbClr val="45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Oval 104"/>
          <p:cNvSpPr/>
          <p:nvPr/>
        </p:nvSpPr>
        <p:spPr>
          <a:xfrm>
            <a:off x="9802367" y="2953512"/>
            <a:ext cx="82296" cy="82296"/>
          </a:xfrm>
          <a:prstGeom prst="ellipse">
            <a:avLst/>
          </a:prstGeom>
          <a:solidFill>
            <a:srgbClr val="45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Oval 105"/>
          <p:cNvSpPr/>
          <p:nvPr/>
        </p:nvSpPr>
        <p:spPr>
          <a:xfrm>
            <a:off x="9930384" y="2953512"/>
            <a:ext cx="82296" cy="82296"/>
          </a:xfrm>
          <a:prstGeom prst="ellipse">
            <a:avLst/>
          </a:prstGeom>
          <a:solidFill>
            <a:srgbClr val="45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Oval 106"/>
          <p:cNvSpPr/>
          <p:nvPr/>
        </p:nvSpPr>
        <p:spPr>
          <a:xfrm>
            <a:off x="10058400" y="2953512"/>
            <a:ext cx="82296" cy="82296"/>
          </a:xfrm>
          <a:prstGeom prst="ellipse">
            <a:avLst/>
          </a:prstGeom>
          <a:solidFill>
            <a:srgbClr val="45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Oval 107"/>
          <p:cNvSpPr/>
          <p:nvPr/>
        </p:nvSpPr>
        <p:spPr>
          <a:xfrm>
            <a:off x="10186416" y="2953512"/>
            <a:ext cx="82296" cy="82296"/>
          </a:xfrm>
          <a:prstGeom prst="ellipse">
            <a:avLst/>
          </a:prstGeom>
          <a:solidFill>
            <a:srgbClr val="45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Oval 108"/>
          <p:cNvSpPr/>
          <p:nvPr/>
        </p:nvSpPr>
        <p:spPr>
          <a:xfrm>
            <a:off x="10314432" y="2953512"/>
            <a:ext cx="82296" cy="82296"/>
          </a:xfrm>
          <a:prstGeom prst="ellipse">
            <a:avLst/>
          </a:prstGeom>
          <a:solidFill>
            <a:srgbClr val="45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Oval 109"/>
          <p:cNvSpPr/>
          <p:nvPr/>
        </p:nvSpPr>
        <p:spPr>
          <a:xfrm>
            <a:off x="9802367" y="3081528"/>
            <a:ext cx="82296" cy="82296"/>
          </a:xfrm>
          <a:prstGeom prst="ellipse">
            <a:avLst/>
          </a:prstGeom>
          <a:solidFill>
            <a:srgbClr val="45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Oval 110"/>
          <p:cNvSpPr/>
          <p:nvPr/>
        </p:nvSpPr>
        <p:spPr>
          <a:xfrm>
            <a:off x="9930384" y="3081528"/>
            <a:ext cx="82296" cy="82296"/>
          </a:xfrm>
          <a:prstGeom prst="ellipse">
            <a:avLst/>
          </a:prstGeom>
          <a:solidFill>
            <a:srgbClr val="45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Oval 111"/>
          <p:cNvSpPr/>
          <p:nvPr/>
        </p:nvSpPr>
        <p:spPr>
          <a:xfrm>
            <a:off x="10058400" y="3081528"/>
            <a:ext cx="82296" cy="82296"/>
          </a:xfrm>
          <a:prstGeom prst="ellipse">
            <a:avLst/>
          </a:prstGeom>
          <a:solidFill>
            <a:srgbClr val="45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Oval 112"/>
          <p:cNvSpPr/>
          <p:nvPr/>
        </p:nvSpPr>
        <p:spPr>
          <a:xfrm>
            <a:off x="10186416" y="3081528"/>
            <a:ext cx="82296" cy="82296"/>
          </a:xfrm>
          <a:prstGeom prst="ellipse">
            <a:avLst/>
          </a:prstGeom>
          <a:solidFill>
            <a:srgbClr val="45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Oval 113"/>
          <p:cNvSpPr/>
          <p:nvPr/>
        </p:nvSpPr>
        <p:spPr>
          <a:xfrm>
            <a:off x="10314432" y="3081528"/>
            <a:ext cx="82296" cy="82296"/>
          </a:xfrm>
          <a:prstGeom prst="ellipse">
            <a:avLst/>
          </a:prstGeom>
          <a:solidFill>
            <a:srgbClr val="45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Oval 114"/>
          <p:cNvSpPr/>
          <p:nvPr/>
        </p:nvSpPr>
        <p:spPr>
          <a:xfrm>
            <a:off x="9802367" y="3209544"/>
            <a:ext cx="82296" cy="82296"/>
          </a:xfrm>
          <a:prstGeom prst="ellipse">
            <a:avLst/>
          </a:prstGeom>
          <a:solidFill>
            <a:srgbClr val="45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Oval 115"/>
          <p:cNvSpPr/>
          <p:nvPr/>
        </p:nvSpPr>
        <p:spPr>
          <a:xfrm>
            <a:off x="9930384" y="3209544"/>
            <a:ext cx="82296" cy="82296"/>
          </a:xfrm>
          <a:prstGeom prst="ellipse">
            <a:avLst/>
          </a:prstGeom>
          <a:solidFill>
            <a:srgbClr val="45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Oval 116"/>
          <p:cNvSpPr/>
          <p:nvPr/>
        </p:nvSpPr>
        <p:spPr>
          <a:xfrm>
            <a:off x="10058400" y="3209544"/>
            <a:ext cx="82296" cy="82296"/>
          </a:xfrm>
          <a:prstGeom prst="ellipse">
            <a:avLst/>
          </a:prstGeom>
          <a:solidFill>
            <a:srgbClr val="45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Oval 117"/>
          <p:cNvSpPr/>
          <p:nvPr/>
        </p:nvSpPr>
        <p:spPr>
          <a:xfrm>
            <a:off x="10186416" y="3209544"/>
            <a:ext cx="82296" cy="82296"/>
          </a:xfrm>
          <a:prstGeom prst="ellipse">
            <a:avLst/>
          </a:prstGeom>
          <a:solidFill>
            <a:srgbClr val="45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Oval 118"/>
          <p:cNvSpPr/>
          <p:nvPr/>
        </p:nvSpPr>
        <p:spPr>
          <a:xfrm>
            <a:off x="10314432" y="3209544"/>
            <a:ext cx="82296" cy="82296"/>
          </a:xfrm>
          <a:prstGeom prst="ellipse">
            <a:avLst/>
          </a:prstGeom>
          <a:solidFill>
            <a:srgbClr val="45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Oval 119"/>
          <p:cNvSpPr/>
          <p:nvPr/>
        </p:nvSpPr>
        <p:spPr>
          <a:xfrm>
            <a:off x="9802367" y="3337560"/>
            <a:ext cx="82296" cy="82296"/>
          </a:xfrm>
          <a:prstGeom prst="ellipse">
            <a:avLst/>
          </a:prstGeom>
          <a:solidFill>
            <a:srgbClr val="45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Oval 120"/>
          <p:cNvSpPr/>
          <p:nvPr/>
        </p:nvSpPr>
        <p:spPr>
          <a:xfrm>
            <a:off x="9930384" y="3337560"/>
            <a:ext cx="82296" cy="82296"/>
          </a:xfrm>
          <a:prstGeom prst="ellipse">
            <a:avLst/>
          </a:prstGeom>
          <a:solidFill>
            <a:srgbClr val="45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Oval 121"/>
          <p:cNvSpPr/>
          <p:nvPr/>
        </p:nvSpPr>
        <p:spPr>
          <a:xfrm>
            <a:off x="10058400" y="3337560"/>
            <a:ext cx="82296" cy="82296"/>
          </a:xfrm>
          <a:prstGeom prst="ellipse">
            <a:avLst/>
          </a:prstGeom>
          <a:solidFill>
            <a:srgbClr val="45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Oval 122"/>
          <p:cNvSpPr/>
          <p:nvPr/>
        </p:nvSpPr>
        <p:spPr>
          <a:xfrm>
            <a:off x="10186416" y="3337560"/>
            <a:ext cx="82296" cy="82296"/>
          </a:xfrm>
          <a:prstGeom prst="ellipse">
            <a:avLst/>
          </a:prstGeom>
          <a:solidFill>
            <a:srgbClr val="45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Oval 123"/>
          <p:cNvSpPr/>
          <p:nvPr/>
        </p:nvSpPr>
        <p:spPr>
          <a:xfrm>
            <a:off x="10314432" y="3337560"/>
            <a:ext cx="82296" cy="82296"/>
          </a:xfrm>
          <a:prstGeom prst="ellipse">
            <a:avLst/>
          </a:prstGeom>
          <a:solidFill>
            <a:srgbClr val="45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Oval 124"/>
          <p:cNvSpPr/>
          <p:nvPr/>
        </p:nvSpPr>
        <p:spPr>
          <a:xfrm>
            <a:off x="9802367" y="3465576"/>
            <a:ext cx="82296" cy="82296"/>
          </a:xfrm>
          <a:prstGeom prst="ellipse">
            <a:avLst/>
          </a:prstGeom>
          <a:solidFill>
            <a:srgbClr val="45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Oval 125"/>
          <p:cNvSpPr/>
          <p:nvPr/>
        </p:nvSpPr>
        <p:spPr>
          <a:xfrm>
            <a:off x="9930384" y="3465576"/>
            <a:ext cx="82296" cy="82296"/>
          </a:xfrm>
          <a:prstGeom prst="ellipse">
            <a:avLst/>
          </a:prstGeom>
          <a:solidFill>
            <a:srgbClr val="45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Oval 126"/>
          <p:cNvSpPr/>
          <p:nvPr/>
        </p:nvSpPr>
        <p:spPr>
          <a:xfrm>
            <a:off x="10058400" y="3465576"/>
            <a:ext cx="82296" cy="82296"/>
          </a:xfrm>
          <a:prstGeom prst="ellipse">
            <a:avLst/>
          </a:prstGeom>
          <a:solidFill>
            <a:srgbClr val="45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Oval 127"/>
          <p:cNvSpPr/>
          <p:nvPr/>
        </p:nvSpPr>
        <p:spPr>
          <a:xfrm>
            <a:off x="10186416" y="3465576"/>
            <a:ext cx="82296" cy="82296"/>
          </a:xfrm>
          <a:prstGeom prst="ellipse">
            <a:avLst/>
          </a:prstGeom>
          <a:solidFill>
            <a:srgbClr val="45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9" name="Oval 128"/>
          <p:cNvSpPr/>
          <p:nvPr/>
        </p:nvSpPr>
        <p:spPr>
          <a:xfrm>
            <a:off x="10314432" y="3465576"/>
            <a:ext cx="82296" cy="82296"/>
          </a:xfrm>
          <a:prstGeom prst="ellipse">
            <a:avLst/>
          </a:prstGeom>
          <a:solidFill>
            <a:srgbClr val="45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Oval 129"/>
          <p:cNvSpPr/>
          <p:nvPr/>
        </p:nvSpPr>
        <p:spPr>
          <a:xfrm>
            <a:off x="9802367" y="3593592"/>
            <a:ext cx="82296" cy="82296"/>
          </a:xfrm>
          <a:prstGeom prst="ellipse">
            <a:avLst/>
          </a:prstGeom>
          <a:solidFill>
            <a:srgbClr val="45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1" name="Oval 130"/>
          <p:cNvSpPr/>
          <p:nvPr/>
        </p:nvSpPr>
        <p:spPr>
          <a:xfrm>
            <a:off x="9930384" y="3593592"/>
            <a:ext cx="82296" cy="82296"/>
          </a:xfrm>
          <a:prstGeom prst="ellipse">
            <a:avLst/>
          </a:prstGeom>
          <a:solidFill>
            <a:srgbClr val="45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2" name="Oval 131"/>
          <p:cNvSpPr/>
          <p:nvPr/>
        </p:nvSpPr>
        <p:spPr>
          <a:xfrm>
            <a:off x="10058400" y="3593592"/>
            <a:ext cx="82296" cy="82296"/>
          </a:xfrm>
          <a:prstGeom prst="ellipse">
            <a:avLst/>
          </a:prstGeom>
          <a:solidFill>
            <a:srgbClr val="45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Oval 132"/>
          <p:cNvSpPr/>
          <p:nvPr/>
        </p:nvSpPr>
        <p:spPr>
          <a:xfrm>
            <a:off x="10186416" y="3593592"/>
            <a:ext cx="82296" cy="82296"/>
          </a:xfrm>
          <a:prstGeom prst="ellipse">
            <a:avLst/>
          </a:prstGeom>
          <a:solidFill>
            <a:srgbClr val="45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4" name="Oval 133"/>
          <p:cNvSpPr/>
          <p:nvPr/>
        </p:nvSpPr>
        <p:spPr>
          <a:xfrm>
            <a:off x="10314432" y="3593592"/>
            <a:ext cx="82296" cy="82296"/>
          </a:xfrm>
          <a:prstGeom prst="ellipse">
            <a:avLst/>
          </a:prstGeom>
          <a:solidFill>
            <a:srgbClr val="45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5" name="Oval 134"/>
          <p:cNvSpPr/>
          <p:nvPr/>
        </p:nvSpPr>
        <p:spPr>
          <a:xfrm>
            <a:off x="9802367" y="3721608"/>
            <a:ext cx="82296" cy="82296"/>
          </a:xfrm>
          <a:prstGeom prst="ellipse">
            <a:avLst/>
          </a:prstGeom>
          <a:solidFill>
            <a:srgbClr val="45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6" name="Oval 135"/>
          <p:cNvSpPr/>
          <p:nvPr/>
        </p:nvSpPr>
        <p:spPr>
          <a:xfrm>
            <a:off x="9930384" y="3721608"/>
            <a:ext cx="82296" cy="82296"/>
          </a:xfrm>
          <a:prstGeom prst="ellipse">
            <a:avLst/>
          </a:prstGeom>
          <a:solidFill>
            <a:srgbClr val="45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7" name="Oval 136"/>
          <p:cNvSpPr/>
          <p:nvPr/>
        </p:nvSpPr>
        <p:spPr>
          <a:xfrm>
            <a:off x="10058400" y="3721608"/>
            <a:ext cx="82296" cy="82296"/>
          </a:xfrm>
          <a:prstGeom prst="ellipse">
            <a:avLst/>
          </a:prstGeom>
          <a:solidFill>
            <a:srgbClr val="45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Oval 137"/>
          <p:cNvSpPr/>
          <p:nvPr/>
        </p:nvSpPr>
        <p:spPr>
          <a:xfrm>
            <a:off x="10186416" y="3721608"/>
            <a:ext cx="82296" cy="82296"/>
          </a:xfrm>
          <a:prstGeom prst="ellipse">
            <a:avLst/>
          </a:prstGeom>
          <a:solidFill>
            <a:srgbClr val="45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9" name="Oval 138"/>
          <p:cNvSpPr/>
          <p:nvPr/>
        </p:nvSpPr>
        <p:spPr>
          <a:xfrm>
            <a:off x="10314432" y="3721608"/>
            <a:ext cx="82296" cy="82296"/>
          </a:xfrm>
          <a:prstGeom prst="ellipse">
            <a:avLst/>
          </a:prstGeom>
          <a:solidFill>
            <a:srgbClr val="45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0" name="Oval 139"/>
          <p:cNvSpPr/>
          <p:nvPr/>
        </p:nvSpPr>
        <p:spPr>
          <a:xfrm>
            <a:off x="9802367" y="3849624"/>
            <a:ext cx="82296" cy="82296"/>
          </a:xfrm>
          <a:prstGeom prst="ellipse">
            <a:avLst/>
          </a:prstGeom>
          <a:solidFill>
            <a:srgbClr val="45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1" name="Oval 140"/>
          <p:cNvSpPr/>
          <p:nvPr/>
        </p:nvSpPr>
        <p:spPr>
          <a:xfrm>
            <a:off x="9930384" y="3849624"/>
            <a:ext cx="82296" cy="82296"/>
          </a:xfrm>
          <a:prstGeom prst="ellipse">
            <a:avLst/>
          </a:prstGeom>
          <a:solidFill>
            <a:srgbClr val="45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2" name="Oval 141"/>
          <p:cNvSpPr/>
          <p:nvPr/>
        </p:nvSpPr>
        <p:spPr>
          <a:xfrm>
            <a:off x="10058400" y="3849624"/>
            <a:ext cx="82296" cy="82296"/>
          </a:xfrm>
          <a:prstGeom prst="ellipse">
            <a:avLst/>
          </a:prstGeom>
          <a:solidFill>
            <a:srgbClr val="45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3" name="Oval 142"/>
          <p:cNvSpPr/>
          <p:nvPr/>
        </p:nvSpPr>
        <p:spPr>
          <a:xfrm>
            <a:off x="10186416" y="3849624"/>
            <a:ext cx="82296" cy="82296"/>
          </a:xfrm>
          <a:prstGeom prst="ellipse">
            <a:avLst/>
          </a:prstGeom>
          <a:solidFill>
            <a:srgbClr val="45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4" name="Oval 143"/>
          <p:cNvSpPr/>
          <p:nvPr/>
        </p:nvSpPr>
        <p:spPr>
          <a:xfrm>
            <a:off x="10314432" y="3849624"/>
            <a:ext cx="82296" cy="82296"/>
          </a:xfrm>
          <a:prstGeom prst="ellipse">
            <a:avLst/>
          </a:prstGeom>
          <a:solidFill>
            <a:srgbClr val="45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5" name="Oval 144"/>
          <p:cNvSpPr/>
          <p:nvPr/>
        </p:nvSpPr>
        <p:spPr>
          <a:xfrm>
            <a:off x="9802367" y="3977640"/>
            <a:ext cx="82296" cy="82296"/>
          </a:xfrm>
          <a:prstGeom prst="ellipse">
            <a:avLst/>
          </a:prstGeom>
          <a:solidFill>
            <a:srgbClr val="45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6" name="Oval 145"/>
          <p:cNvSpPr/>
          <p:nvPr/>
        </p:nvSpPr>
        <p:spPr>
          <a:xfrm>
            <a:off x="9930384" y="3977640"/>
            <a:ext cx="82296" cy="82296"/>
          </a:xfrm>
          <a:prstGeom prst="ellipse">
            <a:avLst/>
          </a:prstGeom>
          <a:solidFill>
            <a:srgbClr val="45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7" name="Oval 146"/>
          <p:cNvSpPr/>
          <p:nvPr/>
        </p:nvSpPr>
        <p:spPr>
          <a:xfrm>
            <a:off x="10058400" y="3977640"/>
            <a:ext cx="82296" cy="82296"/>
          </a:xfrm>
          <a:prstGeom prst="ellipse">
            <a:avLst/>
          </a:prstGeom>
          <a:solidFill>
            <a:srgbClr val="45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8" name="Oval 147"/>
          <p:cNvSpPr/>
          <p:nvPr/>
        </p:nvSpPr>
        <p:spPr>
          <a:xfrm>
            <a:off x="10186416" y="3977640"/>
            <a:ext cx="82296" cy="82296"/>
          </a:xfrm>
          <a:prstGeom prst="ellipse">
            <a:avLst/>
          </a:prstGeom>
          <a:solidFill>
            <a:srgbClr val="45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9" name="Oval 148"/>
          <p:cNvSpPr/>
          <p:nvPr/>
        </p:nvSpPr>
        <p:spPr>
          <a:xfrm>
            <a:off x="10314432" y="3977640"/>
            <a:ext cx="82296" cy="82296"/>
          </a:xfrm>
          <a:prstGeom prst="ellipse">
            <a:avLst/>
          </a:prstGeom>
          <a:solidFill>
            <a:srgbClr val="45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0" name="Oval 149"/>
          <p:cNvSpPr/>
          <p:nvPr/>
        </p:nvSpPr>
        <p:spPr>
          <a:xfrm>
            <a:off x="9802367" y="4105656"/>
            <a:ext cx="82296" cy="82296"/>
          </a:xfrm>
          <a:prstGeom prst="ellipse">
            <a:avLst/>
          </a:prstGeom>
          <a:solidFill>
            <a:srgbClr val="45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1" name="Oval 150"/>
          <p:cNvSpPr/>
          <p:nvPr/>
        </p:nvSpPr>
        <p:spPr>
          <a:xfrm>
            <a:off x="9930384" y="4105656"/>
            <a:ext cx="82296" cy="82296"/>
          </a:xfrm>
          <a:prstGeom prst="ellipse">
            <a:avLst/>
          </a:prstGeom>
          <a:solidFill>
            <a:srgbClr val="45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2" name="Oval 151"/>
          <p:cNvSpPr/>
          <p:nvPr/>
        </p:nvSpPr>
        <p:spPr>
          <a:xfrm>
            <a:off x="10058400" y="4105656"/>
            <a:ext cx="82296" cy="82296"/>
          </a:xfrm>
          <a:prstGeom prst="ellipse">
            <a:avLst/>
          </a:prstGeom>
          <a:solidFill>
            <a:srgbClr val="45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" name="Oval 152"/>
          <p:cNvSpPr/>
          <p:nvPr/>
        </p:nvSpPr>
        <p:spPr>
          <a:xfrm>
            <a:off x="10186416" y="4105656"/>
            <a:ext cx="82296" cy="82296"/>
          </a:xfrm>
          <a:prstGeom prst="ellipse">
            <a:avLst/>
          </a:prstGeom>
          <a:solidFill>
            <a:srgbClr val="45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" name="Oval 153"/>
          <p:cNvSpPr/>
          <p:nvPr/>
        </p:nvSpPr>
        <p:spPr>
          <a:xfrm>
            <a:off x="10314432" y="4105656"/>
            <a:ext cx="82296" cy="82296"/>
          </a:xfrm>
          <a:prstGeom prst="ellipse">
            <a:avLst/>
          </a:prstGeom>
          <a:solidFill>
            <a:srgbClr val="45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5" name="Oval 154"/>
          <p:cNvSpPr/>
          <p:nvPr/>
        </p:nvSpPr>
        <p:spPr>
          <a:xfrm>
            <a:off x="9802367" y="4233672"/>
            <a:ext cx="82296" cy="82296"/>
          </a:xfrm>
          <a:prstGeom prst="ellipse">
            <a:avLst/>
          </a:prstGeom>
          <a:solidFill>
            <a:srgbClr val="45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6" name="Oval 155"/>
          <p:cNvSpPr/>
          <p:nvPr/>
        </p:nvSpPr>
        <p:spPr>
          <a:xfrm>
            <a:off x="9930384" y="4233672"/>
            <a:ext cx="82296" cy="82296"/>
          </a:xfrm>
          <a:prstGeom prst="ellipse">
            <a:avLst/>
          </a:prstGeom>
          <a:solidFill>
            <a:srgbClr val="45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7" name="Oval 156"/>
          <p:cNvSpPr/>
          <p:nvPr/>
        </p:nvSpPr>
        <p:spPr>
          <a:xfrm>
            <a:off x="10058400" y="4233672"/>
            <a:ext cx="82296" cy="82296"/>
          </a:xfrm>
          <a:prstGeom prst="ellipse">
            <a:avLst/>
          </a:prstGeom>
          <a:solidFill>
            <a:srgbClr val="45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8" name="Oval 157"/>
          <p:cNvSpPr/>
          <p:nvPr/>
        </p:nvSpPr>
        <p:spPr>
          <a:xfrm>
            <a:off x="10186416" y="4233672"/>
            <a:ext cx="82296" cy="82296"/>
          </a:xfrm>
          <a:prstGeom prst="ellipse">
            <a:avLst/>
          </a:prstGeom>
          <a:solidFill>
            <a:srgbClr val="45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9" name="Oval 158"/>
          <p:cNvSpPr/>
          <p:nvPr/>
        </p:nvSpPr>
        <p:spPr>
          <a:xfrm>
            <a:off x="10314432" y="4233672"/>
            <a:ext cx="82296" cy="82296"/>
          </a:xfrm>
          <a:prstGeom prst="ellipse">
            <a:avLst/>
          </a:prstGeom>
          <a:solidFill>
            <a:srgbClr val="45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0" name="TextBox 159"/>
          <p:cNvSpPr txBox="1"/>
          <p:nvPr/>
        </p:nvSpPr>
        <p:spPr>
          <a:xfrm>
            <a:off x="8366760" y="2240280"/>
            <a:ext cx="1508760" cy="12801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0" b="1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161" name="TextBox 160"/>
          <p:cNvSpPr txBox="1"/>
          <p:nvPr/>
        </p:nvSpPr>
        <p:spPr>
          <a:xfrm>
            <a:off x="7223760" y="5440680"/>
            <a:ext cx="379476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0">
                <a:solidFill>
                  <a:srgbClr val="C8DCE6"/>
                </a:solidFill>
              </a:defRPr>
            </a:pPr>
            <a:r>
              <a:t>28 × 28 pixels  •  784 features</a:t>
            </a:r>
          </a:p>
        </p:txBody>
      </p:sp>
      <p:sp>
        <p:nvSpPr>
          <p:cNvPr id="162" name="TextBox 161"/>
          <p:cNvSpPr txBox="1"/>
          <p:nvPr/>
        </p:nvSpPr>
        <p:spPr>
          <a:xfrm>
            <a:off x="758952" y="5669280"/>
            <a:ext cx="6858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0">
                <a:solidFill>
                  <a:srgbClr val="D2DCE6"/>
                </a:solidFill>
              </a:defRPr>
            </a:pPr>
            <a:r>
              <a:t>Internship Project • Professional Presentation</a:t>
            </a:r>
          </a:p>
        </p:txBody>
      </p:sp>
      <p:sp>
        <p:nvSpPr>
          <p:cNvPr id="163" name="TextBox 162"/>
          <p:cNvSpPr txBox="1"/>
          <p:nvPr/>
        </p:nvSpPr>
        <p:spPr>
          <a:xfrm>
            <a:off x="758952" y="6089904"/>
            <a:ext cx="5486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0">
                <a:solidFill>
                  <a:srgbClr val="AFBECD"/>
                </a:solidFill>
              </a:defRPr>
            </a:pPr>
            <a:r>
              <a:t>Educational machine learning project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8229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82741"/>
                </a:solidFill>
              </a:defRPr>
            </a:pPr>
            <a:r>
              <a:t>1. 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841248"/>
            <a:ext cx="10515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69737D"/>
                </a:solidFill>
              </a:defRPr>
            </a:pPr>
            <a:r>
              <a:t>Teaching a model to recognize handwritten digits from pixel patterns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28232"/>
            <a:ext cx="5486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00" b="1">
                <a:solidFill>
                  <a:srgbClr val="69737D"/>
                </a:solidFill>
              </a:defRPr>
            </a:pPr>
            <a:r>
              <a:t>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960120" cy="347472"/>
          </a:xfrm>
          <a:prstGeom prst="roundRect">
            <a:avLst/>
          </a:prstGeom>
          <a:solidFill>
            <a:srgbClr val="18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85800" y="1426464"/>
            <a:ext cx="9601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IMAGE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874519"/>
            <a:ext cx="274320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1051560" y="2240280"/>
            <a:ext cx="118872" cy="118872"/>
          </a:xfrm>
          <a:prstGeom prst="rect">
            <a:avLst/>
          </a:prstGeom>
          <a:solidFill>
            <a:srgbClr val="EE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197863" y="2240280"/>
            <a:ext cx="118872" cy="118872"/>
          </a:xfrm>
          <a:prstGeom prst="rect">
            <a:avLst/>
          </a:prstGeom>
          <a:solidFill>
            <a:srgbClr val="EE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344168" y="2240280"/>
            <a:ext cx="118872" cy="118872"/>
          </a:xfrm>
          <a:prstGeom prst="rect">
            <a:avLst/>
          </a:prstGeom>
          <a:solidFill>
            <a:srgbClr val="EE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490472" y="2240280"/>
            <a:ext cx="118872" cy="118872"/>
          </a:xfrm>
          <a:prstGeom prst="rect">
            <a:avLst/>
          </a:prstGeom>
          <a:solidFill>
            <a:srgbClr val="EE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636776" y="2240280"/>
            <a:ext cx="118872" cy="118872"/>
          </a:xfrm>
          <a:prstGeom prst="rect">
            <a:avLst/>
          </a:prstGeom>
          <a:solidFill>
            <a:srgbClr val="EE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783080" y="2240280"/>
            <a:ext cx="118872" cy="118872"/>
          </a:xfrm>
          <a:prstGeom prst="rect">
            <a:avLst/>
          </a:prstGeom>
          <a:solidFill>
            <a:srgbClr val="EE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929384" y="2240280"/>
            <a:ext cx="118872" cy="118872"/>
          </a:xfrm>
          <a:prstGeom prst="rect">
            <a:avLst/>
          </a:prstGeom>
          <a:solidFill>
            <a:srgbClr val="EE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2075688" y="2240280"/>
            <a:ext cx="118872" cy="118872"/>
          </a:xfrm>
          <a:prstGeom prst="rect">
            <a:avLst/>
          </a:prstGeom>
          <a:solidFill>
            <a:srgbClr val="EE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2221991" y="2240280"/>
            <a:ext cx="118872" cy="118872"/>
          </a:xfrm>
          <a:prstGeom prst="rect">
            <a:avLst/>
          </a:prstGeom>
          <a:solidFill>
            <a:srgbClr val="EE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2368296" y="2240280"/>
            <a:ext cx="118872" cy="118872"/>
          </a:xfrm>
          <a:prstGeom prst="rect">
            <a:avLst/>
          </a:prstGeom>
          <a:solidFill>
            <a:srgbClr val="EE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2514600" y="2240280"/>
            <a:ext cx="118872" cy="118872"/>
          </a:xfrm>
          <a:prstGeom prst="rect">
            <a:avLst/>
          </a:prstGeom>
          <a:solidFill>
            <a:srgbClr val="EE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2660904" y="2240280"/>
            <a:ext cx="118872" cy="118872"/>
          </a:xfrm>
          <a:prstGeom prst="rect">
            <a:avLst/>
          </a:prstGeom>
          <a:solidFill>
            <a:srgbClr val="EE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2807208" y="2240280"/>
            <a:ext cx="118872" cy="118872"/>
          </a:xfrm>
          <a:prstGeom prst="rect">
            <a:avLst/>
          </a:prstGeom>
          <a:solidFill>
            <a:srgbClr val="EE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2953512" y="2240280"/>
            <a:ext cx="118872" cy="118872"/>
          </a:xfrm>
          <a:prstGeom prst="rect">
            <a:avLst/>
          </a:prstGeom>
          <a:solidFill>
            <a:srgbClr val="EE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1051560" y="2386584"/>
            <a:ext cx="118872" cy="118872"/>
          </a:xfrm>
          <a:prstGeom prst="rect">
            <a:avLst/>
          </a:prstGeom>
          <a:solidFill>
            <a:srgbClr val="EE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1197863" y="2386584"/>
            <a:ext cx="118872" cy="118872"/>
          </a:xfrm>
          <a:prstGeom prst="rect">
            <a:avLst/>
          </a:prstGeom>
          <a:solidFill>
            <a:srgbClr val="EE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1344168" y="2386584"/>
            <a:ext cx="118872" cy="118872"/>
          </a:xfrm>
          <a:prstGeom prst="rect">
            <a:avLst/>
          </a:prstGeom>
          <a:solidFill>
            <a:srgbClr val="EE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1490472" y="2386584"/>
            <a:ext cx="118872" cy="118872"/>
          </a:xfrm>
          <a:prstGeom prst="rect">
            <a:avLst/>
          </a:prstGeom>
          <a:solidFill>
            <a:srgbClr val="EE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1636776" y="2386584"/>
            <a:ext cx="118872" cy="118872"/>
          </a:xfrm>
          <a:prstGeom prst="rect">
            <a:avLst/>
          </a:prstGeom>
          <a:solidFill>
            <a:srgbClr val="EE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1783080" y="2386584"/>
            <a:ext cx="118872" cy="118872"/>
          </a:xfrm>
          <a:prstGeom prst="rect">
            <a:avLst/>
          </a:prstGeom>
          <a:solidFill>
            <a:srgbClr val="EE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1929384" y="2386584"/>
            <a:ext cx="118872" cy="118872"/>
          </a:xfrm>
          <a:prstGeom prst="rect">
            <a:avLst/>
          </a:prstGeom>
          <a:solidFill>
            <a:srgbClr val="EE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2075688" y="2386584"/>
            <a:ext cx="118872" cy="118872"/>
          </a:xfrm>
          <a:prstGeom prst="rect">
            <a:avLst/>
          </a:prstGeom>
          <a:solidFill>
            <a:srgbClr val="EE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2221991" y="2386584"/>
            <a:ext cx="118872" cy="118872"/>
          </a:xfrm>
          <a:prstGeom prst="rect">
            <a:avLst/>
          </a:prstGeom>
          <a:solidFill>
            <a:srgbClr val="EE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2368296" y="2386584"/>
            <a:ext cx="118872" cy="118872"/>
          </a:xfrm>
          <a:prstGeom prst="rect">
            <a:avLst/>
          </a:prstGeom>
          <a:solidFill>
            <a:srgbClr val="EE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2514600" y="2386584"/>
            <a:ext cx="118872" cy="118872"/>
          </a:xfrm>
          <a:prstGeom prst="rect">
            <a:avLst/>
          </a:prstGeom>
          <a:solidFill>
            <a:srgbClr val="EE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2660904" y="2386584"/>
            <a:ext cx="118872" cy="118872"/>
          </a:xfrm>
          <a:prstGeom prst="rect">
            <a:avLst/>
          </a:prstGeom>
          <a:solidFill>
            <a:srgbClr val="EE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2807208" y="2386584"/>
            <a:ext cx="118872" cy="118872"/>
          </a:xfrm>
          <a:prstGeom prst="rect">
            <a:avLst/>
          </a:prstGeom>
          <a:solidFill>
            <a:srgbClr val="EE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2953512" y="2386584"/>
            <a:ext cx="118872" cy="118872"/>
          </a:xfrm>
          <a:prstGeom prst="rect">
            <a:avLst/>
          </a:prstGeom>
          <a:solidFill>
            <a:srgbClr val="EE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1051560" y="2532888"/>
            <a:ext cx="118872" cy="118872"/>
          </a:xfrm>
          <a:prstGeom prst="rect">
            <a:avLst/>
          </a:prstGeom>
          <a:solidFill>
            <a:srgbClr val="EE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1197863" y="2532888"/>
            <a:ext cx="118872" cy="118872"/>
          </a:xfrm>
          <a:prstGeom prst="rect">
            <a:avLst/>
          </a:prstGeom>
          <a:solidFill>
            <a:srgbClr val="EE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1344168" y="2532888"/>
            <a:ext cx="118872" cy="118872"/>
          </a:xfrm>
          <a:prstGeom prst="rect">
            <a:avLst/>
          </a:prstGeom>
          <a:solidFill>
            <a:srgbClr val="EE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1490472" y="2532888"/>
            <a:ext cx="118872" cy="118872"/>
          </a:xfrm>
          <a:prstGeom prst="rect">
            <a:avLst/>
          </a:prstGeom>
          <a:solidFill>
            <a:srgbClr val="6E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1636776" y="2532888"/>
            <a:ext cx="118872" cy="118872"/>
          </a:xfrm>
          <a:prstGeom prst="rect">
            <a:avLst/>
          </a:prstGeom>
          <a:solidFill>
            <a:srgbClr val="6E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1783080" y="2532888"/>
            <a:ext cx="118872" cy="118872"/>
          </a:xfrm>
          <a:prstGeom prst="rect">
            <a:avLst/>
          </a:prstGeom>
          <a:solidFill>
            <a:srgbClr val="6E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1929384" y="2532888"/>
            <a:ext cx="118872" cy="118872"/>
          </a:xfrm>
          <a:prstGeom prst="rect">
            <a:avLst/>
          </a:prstGeom>
          <a:solidFill>
            <a:srgbClr val="6E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2075688" y="2532888"/>
            <a:ext cx="118872" cy="118872"/>
          </a:xfrm>
          <a:prstGeom prst="rect">
            <a:avLst/>
          </a:prstGeom>
          <a:solidFill>
            <a:srgbClr val="6E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2221991" y="2532888"/>
            <a:ext cx="118872" cy="118872"/>
          </a:xfrm>
          <a:prstGeom prst="rect">
            <a:avLst/>
          </a:prstGeom>
          <a:solidFill>
            <a:srgbClr val="6E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2368296" y="2532888"/>
            <a:ext cx="118872" cy="118872"/>
          </a:xfrm>
          <a:prstGeom prst="rect">
            <a:avLst/>
          </a:prstGeom>
          <a:solidFill>
            <a:srgbClr val="6E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2514600" y="2532888"/>
            <a:ext cx="118872" cy="118872"/>
          </a:xfrm>
          <a:prstGeom prst="rect">
            <a:avLst/>
          </a:prstGeom>
          <a:solidFill>
            <a:srgbClr val="6E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2660904" y="2532888"/>
            <a:ext cx="118872" cy="118872"/>
          </a:xfrm>
          <a:prstGeom prst="rect">
            <a:avLst/>
          </a:prstGeom>
          <a:solidFill>
            <a:srgbClr val="EE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2807208" y="2532888"/>
            <a:ext cx="118872" cy="118872"/>
          </a:xfrm>
          <a:prstGeom prst="rect">
            <a:avLst/>
          </a:prstGeom>
          <a:solidFill>
            <a:srgbClr val="EE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2953512" y="2532888"/>
            <a:ext cx="118872" cy="118872"/>
          </a:xfrm>
          <a:prstGeom prst="rect">
            <a:avLst/>
          </a:prstGeom>
          <a:solidFill>
            <a:srgbClr val="EE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1051560" y="2679192"/>
            <a:ext cx="118872" cy="118872"/>
          </a:xfrm>
          <a:prstGeom prst="rect">
            <a:avLst/>
          </a:prstGeom>
          <a:solidFill>
            <a:srgbClr val="EE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1197863" y="2679192"/>
            <a:ext cx="118872" cy="118872"/>
          </a:xfrm>
          <a:prstGeom prst="rect">
            <a:avLst/>
          </a:prstGeom>
          <a:solidFill>
            <a:srgbClr val="EE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1344168" y="2679192"/>
            <a:ext cx="118872" cy="118872"/>
          </a:xfrm>
          <a:prstGeom prst="rect">
            <a:avLst/>
          </a:prstGeom>
          <a:solidFill>
            <a:srgbClr val="EE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1490472" y="2679192"/>
            <a:ext cx="118872" cy="118872"/>
          </a:xfrm>
          <a:prstGeom prst="rect">
            <a:avLst/>
          </a:prstGeom>
          <a:solidFill>
            <a:srgbClr val="6E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1636776" y="2679192"/>
            <a:ext cx="118872" cy="118872"/>
          </a:xfrm>
          <a:prstGeom prst="rect">
            <a:avLst/>
          </a:prstGeom>
          <a:solidFill>
            <a:srgbClr val="6E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1783080" y="2679192"/>
            <a:ext cx="118872" cy="118872"/>
          </a:xfrm>
          <a:prstGeom prst="rect">
            <a:avLst/>
          </a:prstGeom>
          <a:solidFill>
            <a:srgbClr val="6E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1929384" y="2679192"/>
            <a:ext cx="118872" cy="118872"/>
          </a:xfrm>
          <a:prstGeom prst="rect">
            <a:avLst/>
          </a:prstGeom>
          <a:solidFill>
            <a:srgbClr val="6E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2075688" y="2679192"/>
            <a:ext cx="118872" cy="118872"/>
          </a:xfrm>
          <a:prstGeom prst="rect">
            <a:avLst/>
          </a:prstGeom>
          <a:solidFill>
            <a:srgbClr val="6E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2221991" y="2679192"/>
            <a:ext cx="118872" cy="118872"/>
          </a:xfrm>
          <a:prstGeom prst="rect">
            <a:avLst/>
          </a:prstGeom>
          <a:solidFill>
            <a:srgbClr val="6E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2368296" y="2679192"/>
            <a:ext cx="118872" cy="118872"/>
          </a:xfrm>
          <a:prstGeom prst="rect">
            <a:avLst/>
          </a:prstGeom>
          <a:solidFill>
            <a:srgbClr val="6E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2514600" y="2679192"/>
            <a:ext cx="118872" cy="118872"/>
          </a:xfrm>
          <a:prstGeom prst="rect">
            <a:avLst/>
          </a:prstGeom>
          <a:solidFill>
            <a:srgbClr val="6E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2660904" y="2679192"/>
            <a:ext cx="118872" cy="118872"/>
          </a:xfrm>
          <a:prstGeom prst="rect">
            <a:avLst/>
          </a:prstGeom>
          <a:solidFill>
            <a:srgbClr val="6E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ectangle 63"/>
          <p:cNvSpPr/>
          <p:nvPr/>
        </p:nvSpPr>
        <p:spPr>
          <a:xfrm>
            <a:off x="2807208" y="2679192"/>
            <a:ext cx="118872" cy="118872"/>
          </a:xfrm>
          <a:prstGeom prst="rect">
            <a:avLst/>
          </a:prstGeom>
          <a:solidFill>
            <a:srgbClr val="EE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ectangle 64"/>
          <p:cNvSpPr/>
          <p:nvPr/>
        </p:nvSpPr>
        <p:spPr>
          <a:xfrm>
            <a:off x="2953512" y="2679192"/>
            <a:ext cx="118872" cy="118872"/>
          </a:xfrm>
          <a:prstGeom prst="rect">
            <a:avLst/>
          </a:prstGeom>
          <a:solidFill>
            <a:srgbClr val="EE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ectangle 65"/>
          <p:cNvSpPr/>
          <p:nvPr/>
        </p:nvSpPr>
        <p:spPr>
          <a:xfrm>
            <a:off x="1051560" y="2825496"/>
            <a:ext cx="118872" cy="118872"/>
          </a:xfrm>
          <a:prstGeom prst="rect">
            <a:avLst/>
          </a:prstGeom>
          <a:solidFill>
            <a:srgbClr val="EE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ectangle 66"/>
          <p:cNvSpPr/>
          <p:nvPr/>
        </p:nvSpPr>
        <p:spPr>
          <a:xfrm>
            <a:off x="1197863" y="2825496"/>
            <a:ext cx="118872" cy="118872"/>
          </a:xfrm>
          <a:prstGeom prst="rect">
            <a:avLst/>
          </a:prstGeom>
          <a:solidFill>
            <a:srgbClr val="EE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1344168" y="2825496"/>
            <a:ext cx="118872" cy="118872"/>
          </a:xfrm>
          <a:prstGeom prst="rect">
            <a:avLst/>
          </a:prstGeom>
          <a:solidFill>
            <a:srgbClr val="EE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1490472" y="2825496"/>
            <a:ext cx="118872" cy="118872"/>
          </a:xfrm>
          <a:prstGeom prst="rect">
            <a:avLst/>
          </a:prstGeom>
          <a:solidFill>
            <a:srgbClr val="EE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Rectangle 69"/>
          <p:cNvSpPr/>
          <p:nvPr/>
        </p:nvSpPr>
        <p:spPr>
          <a:xfrm>
            <a:off x="1636776" y="2825496"/>
            <a:ext cx="118872" cy="118872"/>
          </a:xfrm>
          <a:prstGeom prst="rect">
            <a:avLst/>
          </a:prstGeom>
          <a:solidFill>
            <a:srgbClr val="EE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Rectangle 70"/>
          <p:cNvSpPr/>
          <p:nvPr/>
        </p:nvSpPr>
        <p:spPr>
          <a:xfrm>
            <a:off x="1783080" y="2825496"/>
            <a:ext cx="118872" cy="118872"/>
          </a:xfrm>
          <a:prstGeom prst="rect">
            <a:avLst/>
          </a:prstGeom>
          <a:solidFill>
            <a:srgbClr val="EE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Rectangle 71"/>
          <p:cNvSpPr/>
          <p:nvPr/>
        </p:nvSpPr>
        <p:spPr>
          <a:xfrm>
            <a:off x="1929384" y="2825496"/>
            <a:ext cx="118872" cy="118872"/>
          </a:xfrm>
          <a:prstGeom prst="rect">
            <a:avLst/>
          </a:prstGeom>
          <a:solidFill>
            <a:srgbClr val="EE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Rectangle 72"/>
          <p:cNvSpPr/>
          <p:nvPr/>
        </p:nvSpPr>
        <p:spPr>
          <a:xfrm>
            <a:off x="2075688" y="2825496"/>
            <a:ext cx="118872" cy="118872"/>
          </a:xfrm>
          <a:prstGeom prst="rect">
            <a:avLst/>
          </a:prstGeom>
          <a:solidFill>
            <a:srgbClr val="EE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Rectangle 73"/>
          <p:cNvSpPr/>
          <p:nvPr/>
        </p:nvSpPr>
        <p:spPr>
          <a:xfrm>
            <a:off x="2221991" y="2825496"/>
            <a:ext cx="118872" cy="118872"/>
          </a:xfrm>
          <a:prstGeom prst="rect">
            <a:avLst/>
          </a:prstGeom>
          <a:solidFill>
            <a:srgbClr val="EE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ectangle 74"/>
          <p:cNvSpPr/>
          <p:nvPr/>
        </p:nvSpPr>
        <p:spPr>
          <a:xfrm>
            <a:off x="2368296" y="2825496"/>
            <a:ext cx="118872" cy="118872"/>
          </a:xfrm>
          <a:prstGeom prst="rect">
            <a:avLst/>
          </a:prstGeom>
          <a:solidFill>
            <a:srgbClr val="6E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ectangle 75"/>
          <p:cNvSpPr/>
          <p:nvPr/>
        </p:nvSpPr>
        <p:spPr>
          <a:xfrm>
            <a:off x="2514600" y="2825496"/>
            <a:ext cx="118872" cy="118872"/>
          </a:xfrm>
          <a:prstGeom prst="rect">
            <a:avLst/>
          </a:prstGeom>
          <a:solidFill>
            <a:srgbClr val="6E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Rectangle 76"/>
          <p:cNvSpPr/>
          <p:nvPr/>
        </p:nvSpPr>
        <p:spPr>
          <a:xfrm>
            <a:off x="2660904" y="2825496"/>
            <a:ext cx="118872" cy="118872"/>
          </a:xfrm>
          <a:prstGeom prst="rect">
            <a:avLst/>
          </a:prstGeom>
          <a:solidFill>
            <a:srgbClr val="6E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Rectangle 77"/>
          <p:cNvSpPr/>
          <p:nvPr/>
        </p:nvSpPr>
        <p:spPr>
          <a:xfrm>
            <a:off x="2807208" y="2825496"/>
            <a:ext cx="118872" cy="118872"/>
          </a:xfrm>
          <a:prstGeom prst="rect">
            <a:avLst/>
          </a:prstGeom>
          <a:solidFill>
            <a:srgbClr val="EE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Rectangle 78"/>
          <p:cNvSpPr/>
          <p:nvPr/>
        </p:nvSpPr>
        <p:spPr>
          <a:xfrm>
            <a:off x="2953512" y="2825496"/>
            <a:ext cx="118872" cy="118872"/>
          </a:xfrm>
          <a:prstGeom prst="rect">
            <a:avLst/>
          </a:prstGeom>
          <a:solidFill>
            <a:srgbClr val="EE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Rectangle 79"/>
          <p:cNvSpPr/>
          <p:nvPr/>
        </p:nvSpPr>
        <p:spPr>
          <a:xfrm>
            <a:off x="1051560" y="2971800"/>
            <a:ext cx="118872" cy="118872"/>
          </a:xfrm>
          <a:prstGeom prst="rect">
            <a:avLst/>
          </a:prstGeom>
          <a:solidFill>
            <a:srgbClr val="EE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Rectangle 80"/>
          <p:cNvSpPr/>
          <p:nvPr/>
        </p:nvSpPr>
        <p:spPr>
          <a:xfrm>
            <a:off x="1197863" y="2971800"/>
            <a:ext cx="118872" cy="118872"/>
          </a:xfrm>
          <a:prstGeom prst="rect">
            <a:avLst/>
          </a:prstGeom>
          <a:solidFill>
            <a:srgbClr val="EE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Rectangle 81"/>
          <p:cNvSpPr/>
          <p:nvPr/>
        </p:nvSpPr>
        <p:spPr>
          <a:xfrm>
            <a:off x="1344168" y="2971800"/>
            <a:ext cx="118872" cy="118872"/>
          </a:xfrm>
          <a:prstGeom prst="rect">
            <a:avLst/>
          </a:prstGeom>
          <a:solidFill>
            <a:srgbClr val="EE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Rectangle 82"/>
          <p:cNvSpPr/>
          <p:nvPr/>
        </p:nvSpPr>
        <p:spPr>
          <a:xfrm>
            <a:off x="1490472" y="2971800"/>
            <a:ext cx="118872" cy="118872"/>
          </a:xfrm>
          <a:prstGeom prst="rect">
            <a:avLst/>
          </a:prstGeom>
          <a:solidFill>
            <a:srgbClr val="EE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Rectangle 83"/>
          <p:cNvSpPr/>
          <p:nvPr/>
        </p:nvSpPr>
        <p:spPr>
          <a:xfrm>
            <a:off x="1636776" y="2971800"/>
            <a:ext cx="118872" cy="118872"/>
          </a:xfrm>
          <a:prstGeom prst="rect">
            <a:avLst/>
          </a:prstGeom>
          <a:solidFill>
            <a:srgbClr val="EE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Rectangle 84"/>
          <p:cNvSpPr/>
          <p:nvPr/>
        </p:nvSpPr>
        <p:spPr>
          <a:xfrm>
            <a:off x="1783080" y="2971800"/>
            <a:ext cx="118872" cy="118872"/>
          </a:xfrm>
          <a:prstGeom prst="rect">
            <a:avLst/>
          </a:prstGeom>
          <a:solidFill>
            <a:srgbClr val="EE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Rectangle 85"/>
          <p:cNvSpPr/>
          <p:nvPr/>
        </p:nvSpPr>
        <p:spPr>
          <a:xfrm>
            <a:off x="1929384" y="2971800"/>
            <a:ext cx="118872" cy="118872"/>
          </a:xfrm>
          <a:prstGeom prst="rect">
            <a:avLst/>
          </a:prstGeom>
          <a:solidFill>
            <a:srgbClr val="EE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Rectangle 86"/>
          <p:cNvSpPr/>
          <p:nvPr/>
        </p:nvSpPr>
        <p:spPr>
          <a:xfrm>
            <a:off x="2075688" y="2971800"/>
            <a:ext cx="118872" cy="118872"/>
          </a:xfrm>
          <a:prstGeom prst="rect">
            <a:avLst/>
          </a:prstGeom>
          <a:solidFill>
            <a:srgbClr val="EE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Rectangle 87"/>
          <p:cNvSpPr/>
          <p:nvPr/>
        </p:nvSpPr>
        <p:spPr>
          <a:xfrm>
            <a:off x="2221991" y="2971800"/>
            <a:ext cx="118872" cy="118872"/>
          </a:xfrm>
          <a:prstGeom prst="rect">
            <a:avLst/>
          </a:prstGeom>
          <a:solidFill>
            <a:srgbClr val="EE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Rectangle 88"/>
          <p:cNvSpPr/>
          <p:nvPr/>
        </p:nvSpPr>
        <p:spPr>
          <a:xfrm>
            <a:off x="2368296" y="2971800"/>
            <a:ext cx="118872" cy="118872"/>
          </a:xfrm>
          <a:prstGeom prst="rect">
            <a:avLst/>
          </a:prstGeom>
          <a:solidFill>
            <a:srgbClr val="6E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Rectangle 89"/>
          <p:cNvSpPr/>
          <p:nvPr/>
        </p:nvSpPr>
        <p:spPr>
          <a:xfrm>
            <a:off x="2514600" y="2971800"/>
            <a:ext cx="118872" cy="118872"/>
          </a:xfrm>
          <a:prstGeom prst="rect">
            <a:avLst/>
          </a:prstGeom>
          <a:solidFill>
            <a:srgbClr val="6E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Rectangle 90"/>
          <p:cNvSpPr/>
          <p:nvPr/>
        </p:nvSpPr>
        <p:spPr>
          <a:xfrm>
            <a:off x="2660904" y="2971800"/>
            <a:ext cx="118872" cy="118872"/>
          </a:xfrm>
          <a:prstGeom prst="rect">
            <a:avLst/>
          </a:prstGeom>
          <a:solidFill>
            <a:srgbClr val="6E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Rectangle 91"/>
          <p:cNvSpPr/>
          <p:nvPr/>
        </p:nvSpPr>
        <p:spPr>
          <a:xfrm>
            <a:off x="2807208" y="2971800"/>
            <a:ext cx="118872" cy="118872"/>
          </a:xfrm>
          <a:prstGeom prst="rect">
            <a:avLst/>
          </a:prstGeom>
          <a:solidFill>
            <a:srgbClr val="EE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Rectangle 92"/>
          <p:cNvSpPr/>
          <p:nvPr/>
        </p:nvSpPr>
        <p:spPr>
          <a:xfrm>
            <a:off x="2953512" y="2971800"/>
            <a:ext cx="118872" cy="118872"/>
          </a:xfrm>
          <a:prstGeom prst="rect">
            <a:avLst/>
          </a:prstGeom>
          <a:solidFill>
            <a:srgbClr val="EE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Rectangle 93"/>
          <p:cNvSpPr/>
          <p:nvPr/>
        </p:nvSpPr>
        <p:spPr>
          <a:xfrm>
            <a:off x="1051560" y="3118104"/>
            <a:ext cx="118872" cy="118872"/>
          </a:xfrm>
          <a:prstGeom prst="rect">
            <a:avLst/>
          </a:prstGeom>
          <a:solidFill>
            <a:srgbClr val="EE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Rectangle 94"/>
          <p:cNvSpPr/>
          <p:nvPr/>
        </p:nvSpPr>
        <p:spPr>
          <a:xfrm>
            <a:off x="1197863" y="3118104"/>
            <a:ext cx="118872" cy="118872"/>
          </a:xfrm>
          <a:prstGeom prst="rect">
            <a:avLst/>
          </a:prstGeom>
          <a:solidFill>
            <a:srgbClr val="EE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Rectangle 95"/>
          <p:cNvSpPr/>
          <p:nvPr/>
        </p:nvSpPr>
        <p:spPr>
          <a:xfrm>
            <a:off x="1344168" y="3118104"/>
            <a:ext cx="118872" cy="118872"/>
          </a:xfrm>
          <a:prstGeom prst="rect">
            <a:avLst/>
          </a:prstGeom>
          <a:solidFill>
            <a:srgbClr val="EE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Rectangle 96"/>
          <p:cNvSpPr/>
          <p:nvPr/>
        </p:nvSpPr>
        <p:spPr>
          <a:xfrm>
            <a:off x="1490472" y="3118104"/>
            <a:ext cx="118872" cy="118872"/>
          </a:xfrm>
          <a:prstGeom prst="rect">
            <a:avLst/>
          </a:prstGeom>
          <a:solidFill>
            <a:srgbClr val="EE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Rectangle 97"/>
          <p:cNvSpPr/>
          <p:nvPr/>
        </p:nvSpPr>
        <p:spPr>
          <a:xfrm>
            <a:off x="1636776" y="3118104"/>
            <a:ext cx="118872" cy="118872"/>
          </a:xfrm>
          <a:prstGeom prst="rect">
            <a:avLst/>
          </a:prstGeom>
          <a:solidFill>
            <a:srgbClr val="EE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Rectangle 98"/>
          <p:cNvSpPr/>
          <p:nvPr/>
        </p:nvSpPr>
        <p:spPr>
          <a:xfrm>
            <a:off x="1783080" y="3118104"/>
            <a:ext cx="118872" cy="118872"/>
          </a:xfrm>
          <a:prstGeom prst="rect">
            <a:avLst/>
          </a:prstGeom>
          <a:solidFill>
            <a:srgbClr val="EE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Rectangle 99"/>
          <p:cNvSpPr/>
          <p:nvPr/>
        </p:nvSpPr>
        <p:spPr>
          <a:xfrm>
            <a:off x="1929384" y="3118104"/>
            <a:ext cx="118872" cy="118872"/>
          </a:xfrm>
          <a:prstGeom prst="rect">
            <a:avLst/>
          </a:prstGeom>
          <a:solidFill>
            <a:srgbClr val="EE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Rectangle 100"/>
          <p:cNvSpPr/>
          <p:nvPr/>
        </p:nvSpPr>
        <p:spPr>
          <a:xfrm>
            <a:off x="2075688" y="3118104"/>
            <a:ext cx="118872" cy="118872"/>
          </a:xfrm>
          <a:prstGeom prst="rect">
            <a:avLst/>
          </a:prstGeom>
          <a:solidFill>
            <a:srgbClr val="EE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Rectangle 101"/>
          <p:cNvSpPr/>
          <p:nvPr/>
        </p:nvSpPr>
        <p:spPr>
          <a:xfrm>
            <a:off x="2221991" y="3118104"/>
            <a:ext cx="118872" cy="118872"/>
          </a:xfrm>
          <a:prstGeom prst="rect">
            <a:avLst/>
          </a:prstGeom>
          <a:solidFill>
            <a:srgbClr val="EE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Rectangle 102"/>
          <p:cNvSpPr/>
          <p:nvPr/>
        </p:nvSpPr>
        <p:spPr>
          <a:xfrm>
            <a:off x="2368296" y="3118104"/>
            <a:ext cx="118872" cy="118872"/>
          </a:xfrm>
          <a:prstGeom prst="rect">
            <a:avLst/>
          </a:prstGeom>
          <a:solidFill>
            <a:srgbClr val="6E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Rectangle 103"/>
          <p:cNvSpPr/>
          <p:nvPr/>
        </p:nvSpPr>
        <p:spPr>
          <a:xfrm>
            <a:off x="2514600" y="3118104"/>
            <a:ext cx="118872" cy="118872"/>
          </a:xfrm>
          <a:prstGeom prst="rect">
            <a:avLst/>
          </a:prstGeom>
          <a:solidFill>
            <a:srgbClr val="6E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Rectangle 104"/>
          <p:cNvSpPr/>
          <p:nvPr/>
        </p:nvSpPr>
        <p:spPr>
          <a:xfrm>
            <a:off x="2660904" y="3118104"/>
            <a:ext cx="118872" cy="118872"/>
          </a:xfrm>
          <a:prstGeom prst="rect">
            <a:avLst/>
          </a:prstGeom>
          <a:solidFill>
            <a:srgbClr val="6E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Rectangle 105"/>
          <p:cNvSpPr/>
          <p:nvPr/>
        </p:nvSpPr>
        <p:spPr>
          <a:xfrm>
            <a:off x="2807208" y="3118104"/>
            <a:ext cx="118872" cy="118872"/>
          </a:xfrm>
          <a:prstGeom prst="rect">
            <a:avLst/>
          </a:prstGeom>
          <a:solidFill>
            <a:srgbClr val="EE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Rectangle 106"/>
          <p:cNvSpPr/>
          <p:nvPr/>
        </p:nvSpPr>
        <p:spPr>
          <a:xfrm>
            <a:off x="2953512" y="3118104"/>
            <a:ext cx="118872" cy="118872"/>
          </a:xfrm>
          <a:prstGeom prst="rect">
            <a:avLst/>
          </a:prstGeom>
          <a:solidFill>
            <a:srgbClr val="EE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Rectangle 107"/>
          <p:cNvSpPr/>
          <p:nvPr/>
        </p:nvSpPr>
        <p:spPr>
          <a:xfrm>
            <a:off x="1051560" y="3264408"/>
            <a:ext cx="118872" cy="118872"/>
          </a:xfrm>
          <a:prstGeom prst="rect">
            <a:avLst/>
          </a:prstGeom>
          <a:solidFill>
            <a:srgbClr val="EE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Rectangle 108"/>
          <p:cNvSpPr/>
          <p:nvPr/>
        </p:nvSpPr>
        <p:spPr>
          <a:xfrm>
            <a:off x="1197863" y="3264408"/>
            <a:ext cx="118872" cy="118872"/>
          </a:xfrm>
          <a:prstGeom prst="rect">
            <a:avLst/>
          </a:prstGeom>
          <a:solidFill>
            <a:srgbClr val="EE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Rectangle 109"/>
          <p:cNvSpPr/>
          <p:nvPr/>
        </p:nvSpPr>
        <p:spPr>
          <a:xfrm>
            <a:off x="1344168" y="3264408"/>
            <a:ext cx="118872" cy="118872"/>
          </a:xfrm>
          <a:prstGeom prst="rect">
            <a:avLst/>
          </a:prstGeom>
          <a:solidFill>
            <a:srgbClr val="EE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Rectangle 110"/>
          <p:cNvSpPr/>
          <p:nvPr/>
        </p:nvSpPr>
        <p:spPr>
          <a:xfrm>
            <a:off x="1490472" y="3264408"/>
            <a:ext cx="118872" cy="118872"/>
          </a:xfrm>
          <a:prstGeom prst="rect">
            <a:avLst/>
          </a:prstGeom>
          <a:solidFill>
            <a:srgbClr val="EE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Rectangle 111"/>
          <p:cNvSpPr/>
          <p:nvPr/>
        </p:nvSpPr>
        <p:spPr>
          <a:xfrm>
            <a:off x="1636776" y="3264408"/>
            <a:ext cx="118872" cy="118872"/>
          </a:xfrm>
          <a:prstGeom prst="rect">
            <a:avLst/>
          </a:prstGeom>
          <a:solidFill>
            <a:srgbClr val="EE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Rectangle 112"/>
          <p:cNvSpPr/>
          <p:nvPr/>
        </p:nvSpPr>
        <p:spPr>
          <a:xfrm>
            <a:off x="1783080" y="3264408"/>
            <a:ext cx="118872" cy="118872"/>
          </a:xfrm>
          <a:prstGeom prst="rect">
            <a:avLst/>
          </a:prstGeom>
          <a:solidFill>
            <a:srgbClr val="EE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Rectangle 113"/>
          <p:cNvSpPr/>
          <p:nvPr/>
        </p:nvSpPr>
        <p:spPr>
          <a:xfrm>
            <a:off x="1929384" y="3264408"/>
            <a:ext cx="118872" cy="118872"/>
          </a:xfrm>
          <a:prstGeom prst="rect">
            <a:avLst/>
          </a:prstGeom>
          <a:solidFill>
            <a:srgbClr val="EE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Rectangle 114"/>
          <p:cNvSpPr/>
          <p:nvPr/>
        </p:nvSpPr>
        <p:spPr>
          <a:xfrm>
            <a:off x="2075688" y="3264408"/>
            <a:ext cx="118872" cy="118872"/>
          </a:xfrm>
          <a:prstGeom prst="rect">
            <a:avLst/>
          </a:prstGeom>
          <a:solidFill>
            <a:srgbClr val="EE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Rectangle 115"/>
          <p:cNvSpPr/>
          <p:nvPr/>
        </p:nvSpPr>
        <p:spPr>
          <a:xfrm>
            <a:off x="2221991" y="3264408"/>
            <a:ext cx="118872" cy="118872"/>
          </a:xfrm>
          <a:prstGeom prst="rect">
            <a:avLst/>
          </a:prstGeom>
          <a:solidFill>
            <a:srgbClr val="EE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Rectangle 116"/>
          <p:cNvSpPr/>
          <p:nvPr/>
        </p:nvSpPr>
        <p:spPr>
          <a:xfrm>
            <a:off x="2368296" y="3264408"/>
            <a:ext cx="118872" cy="118872"/>
          </a:xfrm>
          <a:prstGeom prst="rect">
            <a:avLst/>
          </a:prstGeom>
          <a:solidFill>
            <a:srgbClr val="6E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Rectangle 117"/>
          <p:cNvSpPr/>
          <p:nvPr/>
        </p:nvSpPr>
        <p:spPr>
          <a:xfrm>
            <a:off x="2514600" y="3264408"/>
            <a:ext cx="118872" cy="118872"/>
          </a:xfrm>
          <a:prstGeom prst="rect">
            <a:avLst/>
          </a:prstGeom>
          <a:solidFill>
            <a:srgbClr val="6E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Rectangle 118"/>
          <p:cNvSpPr/>
          <p:nvPr/>
        </p:nvSpPr>
        <p:spPr>
          <a:xfrm>
            <a:off x="2660904" y="3264408"/>
            <a:ext cx="118872" cy="118872"/>
          </a:xfrm>
          <a:prstGeom prst="rect">
            <a:avLst/>
          </a:prstGeom>
          <a:solidFill>
            <a:srgbClr val="6E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Rectangle 119"/>
          <p:cNvSpPr/>
          <p:nvPr/>
        </p:nvSpPr>
        <p:spPr>
          <a:xfrm>
            <a:off x="2807208" y="3264408"/>
            <a:ext cx="118872" cy="118872"/>
          </a:xfrm>
          <a:prstGeom prst="rect">
            <a:avLst/>
          </a:prstGeom>
          <a:solidFill>
            <a:srgbClr val="EE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Rectangle 120"/>
          <p:cNvSpPr/>
          <p:nvPr/>
        </p:nvSpPr>
        <p:spPr>
          <a:xfrm>
            <a:off x="2953512" y="3264408"/>
            <a:ext cx="118872" cy="118872"/>
          </a:xfrm>
          <a:prstGeom prst="rect">
            <a:avLst/>
          </a:prstGeom>
          <a:solidFill>
            <a:srgbClr val="EE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Rectangle 121"/>
          <p:cNvSpPr/>
          <p:nvPr/>
        </p:nvSpPr>
        <p:spPr>
          <a:xfrm>
            <a:off x="1051560" y="3410712"/>
            <a:ext cx="118872" cy="118872"/>
          </a:xfrm>
          <a:prstGeom prst="rect">
            <a:avLst/>
          </a:prstGeom>
          <a:solidFill>
            <a:srgbClr val="EE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Rectangle 122"/>
          <p:cNvSpPr/>
          <p:nvPr/>
        </p:nvSpPr>
        <p:spPr>
          <a:xfrm>
            <a:off x="1197863" y="3410712"/>
            <a:ext cx="118872" cy="118872"/>
          </a:xfrm>
          <a:prstGeom prst="rect">
            <a:avLst/>
          </a:prstGeom>
          <a:solidFill>
            <a:srgbClr val="EE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Rectangle 123"/>
          <p:cNvSpPr/>
          <p:nvPr/>
        </p:nvSpPr>
        <p:spPr>
          <a:xfrm>
            <a:off x="1344168" y="3410712"/>
            <a:ext cx="118872" cy="118872"/>
          </a:xfrm>
          <a:prstGeom prst="rect">
            <a:avLst/>
          </a:prstGeom>
          <a:solidFill>
            <a:srgbClr val="EE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Rectangle 124"/>
          <p:cNvSpPr/>
          <p:nvPr/>
        </p:nvSpPr>
        <p:spPr>
          <a:xfrm>
            <a:off x="1490472" y="3410712"/>
            <a:ext cx="118872" cy="118872"/>
          </a:xfrm>
          <a:prstGeom prst="rect">
            <a:avLst/>
          </a:prstGeom>
          <a:solidFill>
            <a:srgbClr val="EE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Rectangle 125"/>
          <p:cNvSpPr/>
          <p:nvPr/>
        </p:nvSpPr>
        <p:spPr>
          <a:xfrm>
            <a:off x="1636776" y="3410712"/>
            <a:ext cx="118872" cy="118872"/>
          </a:xfrm>
          <a:prstGeom prst="rect">
            <a:avLst/>
          </a:prstGeom>
          <a:solidFill>
            <a:srgbClr val="EE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Rectangle 126"/>
          <p:cNvSpPr/>
          <p:nvPr/>
        </p:nvSpPr>
        <p:spPr>
          <a:xfrm>
            <a:off x="1783080" y="3410712"/>
            <a:ext cx="118872" cy="118872"/>
          </a:xfrm>
          <a:prstGeom prst="rect">
            <a:avLst/>
          </a:prstGeom>
          <a:solidFill>
            <a:srgbClr val="EE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Rectangle 127"/>
          <p:cNvSpPr/>
          <p:nvPr/>
        </p:nvSpPr>
        <p:spPr>
          <a:xfrm>
            <a:off x="1929384" y="3410712"/>
            <a:ext cx="118872" cy="118872"/>
          </a:xfrm>
          <a:prstGeom prst="rect">
            <a:avLst/>
          </a:prstGeom>
          <a:solidFill>
            <a:srgbClr val="EE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9" name="Rectangle 128"/>
          <p:cNvSpPr/>
          <p:nvPr/>
        </p:nvSpPr>
        <p:spPr>
          <a:xfrm>
            <a:off x="2075688" y="3410712"/>
            <a:ext cx="118872" cy="118872"/>
          </a:xfrm>
          <a:prstGeom prst="rect">
            <a:avLst/>
          </a:prstGeom>
          <a:solidFill>
            <a:srgbClr val="EE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Rectangle 129"/>
          <p:cNvSpPr/>
          <p:nvPr/>
        </p:nvSpPr>
        <p:spPr>
          <a:xfrm>
            <a:off x="2221991" y="3410712"/>
            <a:ext cx="118872" cy="118872"/>
          </a:xfrm>
          <a:prstGeom prst="rect">
            <a:avLst/>
          </a:prstGeom>
          <a:solidFill>
            <a:srgbClr val="EE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1" name="Rectangle 130"/>
          <p:cNvSpPr/>
          <p:nvPr/>
        </p:nvSpPr>
        <p:spPr>
          <a:xfrm>
            <a:off x="2368296" y="3410712"/>
            <a:ext cx="118872" cy="118872"/>
          </a:xfrm>
          <a:prstGeom prst="rect">
            <a:avLst/>
          </a:prstGeom>
          <a:solidFill>
            <a:srgbClr val="6E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2" name="Rectangle 131"/>
          <p:cNvSpPr/>
          <p:nvPr/>
        </p:nvSpPr>
        <p:spPr>
          <a:xfrm>
            <a:off x="2514600" y="3410712"/>
            <a:ext cx="118872" cy="118872"/>
          </a:xfrm>
          <a:prstGeom prst="rect">
            <a:avLst/>
          </a:prstGeom>
          <a:solidFill>
            <a:srgbClr val="6E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Rectangle 132"/>
          <p:cNvSpPr/>
          <p:nvPr/>
        </p:nvSpPr>
        <p:spPr>
          <a:xfrm>
            <a:off x="2660904" y="3410712"/>
            <a:ext cx="118872" cy="118872"/>
          </a:xfrm>
          <a:prstGeom prst="rect">
            <a:avLst/>
          </a:prstGeom>
          <a:solidFill>
            <a:srgbClr val="6E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4" name="Rectangle 133"/>
          <p:cNvSpPr/>
          <p:nvPr/>
        </p:nvSpPr>
        <p:spPr>
          <a:xfrm>
            <a:off x="2807208" y="3410712"/>
            <a:ext cx="118872" cy="118872"/>
          </a:xfrm>
          <a:prstGeom prst="rect">
            <a:avLst/>
          </a:prstGeom>
          <a:solidFill>
            <a:srgbClr val="EE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5" name="Rectangle 134"/>
          <p:cNvSpPr/>
          <p:nvPr/>
        </p:nvSpPr>
        <p:spPr>
          <a:xfrm>
            <a:off x="2953512" y="3410712"/>
            <a:ext cx="118872" cy="118872"/>
          </a:xfrm>
          <a:prstGeom prst="rect">
            <a:avLst/>
          </a:prstGeom>
          <a:solidFill>
            <a:srgbClr val="EE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6" name="Rectangle 135"/>
          <p:cNvSpPr/>
          <p:nvPr/>
        </p:nvSpPr>
        <p:spPr>
          <a:xfrm>
            <a:off x="1051560" y="3557016"/>
            <a:ext cx="118872" cy="118872"/>
          </a:xfrm>
          <a:prstGeom prst="rect">
            <a:avLst/>
          </a:prstGeom>
          <a:solidFill>
            <a:srgbClr val="EE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7" name="Rectangle 136"/>
          <p:cNvSpPr/>
          <p:nvPr/>
        </p:nvSpPr>
        <p:spPr>
          <a:xfrm>
            <a:off x="1197863" y="3557016"/>
            <a:ext cx="118872" cy="118872"/>
          </a:xfrm>
          <a:prstGeom prst="rect">
            <a:avLst/>
          </a:prstGeom>
          <a:solidFill>
            <a:srgbClr val="EE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Rectangle 137"/>
          <p:cNvSpPr/>
          <p:nvPr/>
        </p:nvSpPr>
        <p:spPr>
          <a:xfrm>
            <a:off x="1344168" y="3557016"/>
            <a:ext cx="118872" cy="118872"/>
          </a:xfrm>
          <a:prstGeom prst="rect">
            <a:avLst/>
          </a:prstGeom>
          <a:solidFill>
            <a:srgbClr val="EE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9" name="Rectangle 138"/>
          <p:cNvSpPr/>
          <p:nvPr/>
        </p:nvSpPr>
        <p:spPr>
          <a:xfrm>
            <a:off x="1490472" y="3557016"/>
            <a:ext cx="118872" cy="118872"/>
          </a:xfrm>
          <a:prstGeom prst="rect">
            <a:avLst/>
          </a:prstGeom>
          <a:solidFill>
            <a:srgbClr val="EE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0" name="Rectangle 139"/>
          <p:cNvSpPr/>
          <p:nvPr/>
        </p:nvSpPr>
        <p:spPr>
          <a:xfrm>
            <a:off x="1636776" y="3557016"/>
            <a:ext cx="118872" cy="118872"/>
          </a:xfrm>
          <a:prstGeom prst="rect">
            <a:avLst/>
          </a:prstGeom>
          <a:solidFill>
            <a:srgbClr val="EE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1" name="Rectangle 140"/>
          <p:cNvSpPr/>
          <p:nvPr/>
        </p:nvSpPr>
        <p:spPr>
          <a:xfrm>
            <a:off x="1783080" y="3557016"/>
            <a:ext cx="118872" cy="118872"/>
          </a:xfrm>
          <a:prstGeom prst="rect">
            <a:avLst/>
          </a:prstGeom>
          <a:solidFill>
            <a:srgbClr val="EE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2" name="Rectangle 141"/>
          <p:cNvSpPr/>
          <p:nvPr/>
        </p:nvSpPr>
        <p:spPr>
          <a:xfrm>
            <a:off x="1929384" y="3557016"/>
            <a:ext cx="118872" cy="118872"/>
          </a:xfrm>
          <a:prstGeom prst="rect">
            <a:avLst/>
          </a:prstGeom>
          <a:solidFill>
            <a:srgbClr val="EE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3" name="Rectangle 142"/>
          <p:cNvSpPr/>
          <p:nvPr/>
        </p:nvSpPr>
        <p:spPr>
          <a:xfrm>
            <a:off x="2075688" y="3557016"/>
            <a:ext cx="118872" cy="118872"/>
          </a:xfrm>
          <a:prstGeom prst="rect">
            <a:avLst/>
          </a:prstGeom>
          <a:solidFill>
            <a:srgbClr val="EE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4" name="Rectangle 143"/>
          <p:cNvSpPr/>
          <p:nvPr/>
        </p:nvSpPr>
        <p:spPr>
          <a:xfrm>
            <a:off x="2221991" y="3557016"/>
            <a:ext cx="118872" cy="118872"/>
          </a:xfrm>
          <a:prstGeom prst="rect">
            <a:avLst/>
          </a:prstGeom>
          <a:solidFill>
            <a:srgbClr val="EE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5" name="Rectangle 144"/>
          <p:cNvSpPr/>
          <p:nvPr/>
        </p:nvSpPr>
        <p:spPr>
          <a:xfrm>
            <a:off x="2368296" y="3557016"/>
            <a:ext cx="118872" cy="118872"/>
          </a:xfrm>
          <a:prstGeom prst="rect">
            <a:avLst/>
          </a:prstGeom>
          <a:solidFill>
            <a:srgbClr val="6E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6" name="Rectangle 145"/>
          <p:cNvSpPr/>
          <p:nvPr/>
        </p:nvSpPr>
        <p:spPr>
          <a:xfrm>
            <a:off x="2514600" y="3557016"/>
            <a:ext cx="118872" cy="118872"/>
          </a:xfrm>
          <a:prstGeom prst="rect">
            <a:avLst/>
          </a:prstGeom>
          <a:solidFill>
            <a:srgbClr val="6E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7" name="Rectangle 146"/>
          <p:cNvSpPr/>
          <p:nvPr/>
        </p:nvSpPr>
        <p:spPr>
          <a:xfrm>
            <a:off x="2660904" y="3557016"/>
            <a:ext cx="118872" cy="118872"/>
          </a:xfrm>
          <a:prstGeom prst="rect">
            <a:avLst/>
          </a:prstGeom>
          <a:solidFill>
            <a:srgbClr val="6E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8" name="Rectangle 147"/>
          <p:cNvSpPr/>
          <p:nvPr/>
        </p:nvSpPr>
        <p:spPr>
          <a:xfrm>
            <a:off x="2807208" y="3557016"/>
            <a:ext cx="118872" cy="118872"/>
          </a:xfrm>
          <a:prstGeom prst="rect">
            <a:avLst/>
          </a:prstGeom>
          <a:solidFill>
            <a:srgbClr val="EE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9" name="Rectangle 148"/>
          <p:cNvSpPr/>
          <p:nvPr/>
        </p:nvSpPr>
        <p:spPr>
          <a:xfrm>
            <a:off x="2953512" y="3557016"/>
            <a:ext cx="118872" cy="118872"/>
          </a:xfrm>
          <a:prstGeom prst="rect">
            <a:avLst/>
          </a:prstGeom>
          <a:solidFill>
            <a:srgbClr val="EE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0" name="Rectangle 149"/>
          <p:cNvSpPr/>
          <p:nvPr/>
        </p:nvSpPr>
        <p:spPr>
          <a:xfrm>
            <a:off x="1051560" y="3703320"/>
            <a:ext cx="118872" cy="118872"/>
          </a:xfrm>
          <a:prstGeom prst="rect">
            <a:avLst/>
          </a:prstGeom>
          <a:solidFill>
            <a:srgbClr val="EE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1" name="Rectangle 150"/>
          <p:cNvSpPr/>
          <p:nvPr/>
        </p:nvSpPr>
        <p:spPr>
          <a:xfrm>
            <a:off x="1197863" y="3703320"/>
            <a:ext cx="118872" cy="118872"/>
          </a:xfrm>
          <a:prstGeom prst="rect">
            <a:avLst/>
          </a:prstGeom>
          <a:solidFill>
            <a:srgbClr val="EE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2" name="Rectangle 151"/>
          <p:cNvSpPr/>
          <p:nvPr/>
        </p:nvSpPr>
        <p:spPr>
          <a:xfrm>
            <a:off x="1344168" y="3703320"/>
            <a:ext cx="118872" cy="118872"/>
          </a:xfrm>
          <a:prstGeom prst="rect">
            <a:avLst/>
          </a:prstGeom>
          <a:solidFill>
            <a:srgbClr val="EE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" name="Rectangle 152"/>
          <p:cNvSpPr/>
          <p:nvPr/>
        </p:nvSpPr>
        <p:spPr>
          <a:xfrm>
            <a:off x="1490472" y="3703320"/>
            <a:ext cx="118872" cy="118872"/>
          </a:xfrm>
          <a:prstGeom prst="rect">
            <a:avLst/>
          </a:prstGeom>
          <a:solidFill>
            <a:srgbClr val="EE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" name="Rectangle 153"/>
          <p:cNvSpPr/>
          <p:nvPr/>
        </p:nvSpPr>
        <p:spPr>
          <a:xfrm>
            <a:off x="1636776" y="3703320"/>
            <a:ext cx="118872" cy="118872"/>
          </a:xfrm>
          <a:prstGeom prst="rect">
            <a:avLst/>
          </a:prstGeom>
          <a:solidFill>
            <a:srgbClr val="EE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5" name="Rectangle 154"/>
          <p:cNvSpPr/>
          <p:nvPr/>
        </p:nvSpPr>
        <p:spPr>
          <a:xfrm>
            <a:off x="1783080" y="3703320"/>
            <a:ext cx="118872" cy="118872"/>
          </a:xfrm>
          <a:prstGeom prst="rect">
            <a:avLst/>
          </a:prstGeom>
          <a:solidFill>
            <a:srgbClr val="EE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6" name="Rectangle 155"/>
          <p:cNvSpPr/>
          <p:nvPr/>
        </p:nvSpPr>
        <p:spPr>
          <a:xfrm>
            <a:off x="1929384" y="3703320"/>
            <a:ext cx="118872" cy="118872"/>
          </a:xfrm>
          <a:prstGeom prst="rect">
            <a:avLst/>
          </a:prstGeom>
          <a:solidFill>
            <a:srgbClr val="EE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7" name="Rectangle 156"/>
          <p:cNvSpPr/>
          <p:nvPr/>
        </p:nvSpPr>
        <p:spPr>
          <a:xfrm>
            <a:off x="2075688" y="3703320"/>
            <a:ext cx="118872" cy="118872"/>
          </a:xfrm>
          <a:prstGeom prst="rect">
            <a:avLst/>
          </a:prstGeom>
          <a:solidFill>
            <a:srgbClr val="EE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8" name="Rectangle 157"/>
          <p:cNvSpPr/>
          <p:nvPr/>
        </p:nvSpPr>
        <p:spPr>
          <a:xfrm>
            <a:off x="2221991" y="3703320"/>
            <a:ext cx="118872" cy="118872"/>
          </a:xfrm>
          <a:prstGeom prst="rect">
            <a:avLst/>
          </a:prstGeom>
          <a:solidFill>
            <a:srgbClr val="EE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9" name="Rectangle 158"/>
          <p:cNvSpPr/>
          <p:nvPr/>
        </p:nvSpPr>
        <p:spPr>
          <a:xfrm>
            <a:off x="2368296" y="3703320"/>
            <a:ext cx="118872" cy="118872"/>
          </a:xfrm>
          <a:prstGeom prst="rect">
            <a:avLst/>
          </a:prstGeom>
          <a:solidFill>
            <a:srgbClr val="6E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0" name="Rectangle 159"/>
          <p:cNvSpPr/>
          <p:nvPr/>
        </p:nvSpPr>
        <p:spPr>
          <a:xfrm>
            <a:off x="2514600" y="3703320"/>
            <a:ext cx="118872" cy="118872"/>
          </a:xfrm>
          <a:prstGeom prst="rect">
            <a:avLst/>
          </a:prstGeom>
          <a:solidFill>
            <a:srgbClr val="6E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1" name="Rectangle 160"/>
          <p:cNvSpPr/>
          <p:nvPr/>
        </p:nvSpPr>
        <p:spPr>
          <a:xfrm>
            <a:off x="2660904" y="3703320"/>
            <a:ext cx="118872" cy="118872"/>
          </a:xfrm>
          <a:prstGeom prst="rect">
            <a:avLst/>
          </a:prstGeom>
          <a:solidFill>
            <a:srgbClr val="6E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2" name="Rectangle 161"/>
          <p:cNvSpPr/>
          <p:nvPr/>
        </p:nvSpPr>
        <p:spPr>
          <a:xfrm>
            <a:off x="2807208" y="3703320"/>
            <a:ext cx="118872" cy="118872"/>
          </a:xfrm>
          <a:prstGeom prst="rect">
            <a:avLst/>
          </a:prstGeom>
          <a:solidFill>
            <a:srgbClr val="EE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3" name="Rectangle 162"/>
          <p:cNvSpPr/>
          <p:nvPr/>
        </p:nvSpPr>
        <p:spPr>
          <a:xfrm>
            <a:off x="2953512" y="3703320"/>
            <a:ext cx="118872" cy="118872"/>
          </a:xfrm>
          <a:prstGeom prst="rect">
            <a:avLst/>
          </a:prstGeom>
          <a:solidFill>
            <a:srgbClr val="EE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4" name="Rectangle 163"/>
          <p:cNvSpPr/>
          <p:nvPr/>
        </p:nvSpPr>
        <p:spPr>
          <a:xfrm>
            <a:off x="1051560" y="3849624"/>
            <a:ext cx="118872" cy="118872"/>
          </a:xfrm>
          <a:prstGeom prst="rect">
            <a:avLst/>
          </a:prstGeom>
          <a:solidFill>
            <a:srgbClr val="EE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5" name="Rectangle 164"/>
          <p:cNvSpPr/>
          <p:nvPr/>
        </p:nvSpPr>
        <p:spPr>
          <a:xfrm>
            <a:off x="1197863" y="3849624"/>
            <a:ext cx="118872" cy="118872"/>
          </a:xfrm>
          <a:prstGeom prst="rect">
            <a:avLst/>
          </a:prstGeom>
          <a:solidFill>
            <a:srgbClr val="EE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6" name="Rectangle 165"/>
          <p:cNvSpPr/>
          <p:nvPr/>
        </p:nvSpPr>
        <p:spPr>
          <a:xfrm>
            <a:off x="1344168" y="3849624"/>
            <a:ext cx="118872" cy="118872"/>
          </a:xfrm>
          <a:prstGeom prst="rect">
            <a:avLst/>
          </a:prstGeom>
          <a:solidFill>
            <a:srgbClr val="EE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7" name="Rectangle 166"/>
          <p:cNvSpPr/>
          <p:nvPr/>
        </p:nvSpPr>
        <p:spPr>
          <a:xfrm>
            <a:off x="1490472" y="3849624"/>
            <a:ext cx="118872" cy="118872"/>
          </a:xfrm>
          <a:prstGeom prst="rect">
            <a:avLst/>
          </a:prstGeom>
          <a:solidFill>
            <a:srgbClr val="EE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8" name="Rectangle 167"/>
          <p:cNvSpPr/>
          <p:nvPr/>
        </p:nvSpPr>
        <p:spPr>
          <a:xfrm>
            <a:off x="1636776" y="3849624"/>
            <a:ext cx="118872" cy="118872"/>
          </a:xfrm>
          <a:prstGeom prst="rect">
            <a:avLst/>
          </a:prstGeom>
          <a:solidFill>
            <a:srgbClr val="EE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9" name="Rectangle 168"/>
          <p:cNvSpPr/>
          <p:nvPr/>
        </p:nvSpPr>
        <p:spPr>
          <a:xfrm>
            <a:off x="1783080" y="3849624"/>
            <a:ext cx="118872" cy="118872"/>
          </a:xfrm>
          <a:prstGeom prst="rect">
            <a:avLst/>
          </a:prstGeom>
          <a:solidFill>
            <a:srgbClr val="EE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0" name="Rectangle 169"/>
          <p:cNvSpPr/>
          <p:nvPr/>
        </p:nvSpPr>
        <p:spPr>
          <a:xfrm>
            <a:off x="1929384" y="3849624"/>
            <a:ext cx="118872" cy="118872"/>
          </a:xfrm>
          <a:prstGeom prst="rect">
            <a:avLst/>
          </a:prstGeom>
          <a:solidFill>
            <a:srgbClr val="EE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1" name="Rectangle 170"/>
          <p:cNvSpPr/>
          <p:nvPr/>
        </p:nvSpPr>
        <p:spPr>
          <a:xfrm>
            <a:off x="2075688" y="3849624"/>
            <a:ext cx="118872" cy="118872"/>
          </a:xfrm>
          <a:prstGeom prst="rect">
            <a:avLst/>
          </a:prstGeom>
          <a:solidFill>
            <a:srgbClr val="EE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2" name="Rectangle 171"/>
          <p:cNvSpPr/>
          <p:nvPr/>
        </p:nvSpPr>
        <p:spPr>
          <a:xfrm>
            <a:off x="2221991" y="3849624"/>
            <a:ext cx="118872" cy="118872"/>
          </a:xfrm>
          <a:prstGeom prst="rect">
            <a:avLst/>
          </a:prstGeom>
          <a:solidFill>
            <a:srgbClr val="EE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3" name="Rectangle 172"/>
          <p:cNvSpPr/>
          <p:nvPr/>
        </p:nvSpPr>
        <p:spPr>
          <a:xfrm>
            <a:off x="2368296" y="3849624"/>
            <a:ext cx="118872" cy="118872"/>
          </a:xfrm>
          <a:prstGeom prst="rect">
            <a:avLst/>
          </a:prstGeom>
          <a:solidFill>
            <a:srgbClr val="6E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" name="Rectangle 173"/>
          <p:cNvSpPr/>
          <p:nvPr/>
        </p:nvSpPr>
        <p:spPr>
          <a:xfrm>
            <a:off x="2514600" y="3849624"/>
            <a:ext cx="118872" cy="118872"/>
          </a:xfrm>
          <a:prstGeom prst="rect">
            <a:avLst/>
          </a:prstGeom>
          <a:solidFill>
            <a:srgbClr val="6E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5" name="Rectangle 174"/>
          <p:cNvSpPr/>
          <p:nvPr/>
        </p:nvSpPr>
        <p:spPr>
          <a:xfrm>
            <a:off x="2660904" y="3849624"/>
            <a:ext cx="118872" cy="118872"/>
          </a:xfrm>
          <a:prstGeom prst="rect">
            <a:avLst/>
          </a:prstGeom>
          <a:solidFill>
            <a:srgbClr val="6E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6" name="Rectangle 175"/>
          <p:cNvSpPr/>
          <p:nvPr/>
        </p:nvSpPr>
        <p:spPr>
          <a:xfrm>
            <a:off x="2807208" y="3849624"/>
            <a:ext cx="118872" cy="118872"/>
          </a:xfrm>
          <a:prstGeom prst="rect">
            <a:avLst/>
          </a:prstGeom>
          <a:solidFill>
            <a:srgbClr val="EE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7" name="Rectangle 176"/>
          <p:cNvSpPr/>
          <p:nvPr/>
        </p:nvSpPr>
        <p:spPr>
          <a:xfrm>
            <a:off x="2953512" y="3849624"/>
            <a:ext cx="118872" cy="118872"/>
          </a:xfrm>
          <a:prstGeom prst="rect">
            <a:avLst/>
          </a:prstGeom>
          <a:solidFill>
            <a:srgbClr val="EE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8" name="Rectangle 177"/>
          <p:cNvSpPr/>
          <p:nvPr/>
        </p:nvSpPr>
        <p:spPr>
          <a:xfrm>
            <a:off x="1051560" y="3995928"/>
            <a:ext cx="118872" cy="118872"/>
          </a:xfrm>
          <a:prstGeom prst="rect">
            <a:avLst/>
          </a:prstGeom>
          <a:solidFill>
            <a:srgbClr val="EE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9" name="Rectangle 178"/>
          <p:cNvSpPr/>
          <p:nvPr/>
        </p:nvSpPr>
        <p:spPr>
          <a:xfrm>
            <a:off x="1197863" y="3995928"/>
            <a:ext cx="118872" cy="118872"/>
          </a:xfrm>
          <a:prstGeom prst="rect">
            <a:avLst/>
          </a:prstGeom>
          <a:solidFill>
            <a:srgbClr val="EE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0" name="Rectangle 179"/>
          <p:cNvSpPr/>
          <p:nvPr/>
        </p:nvSpPr>
        <p:spPr>
          <a:xfrm>
            <a:off x="1344168" y="3995928"/>
            <a:ext cx="118872" cy="118872"/>
          </a:xfrm>
          <a:prstGeom prst="rect">
            <a:avLst/>
          </a:prstGeom>
          <a:solidFill>
            <a:srgbClr val="EE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1" name="Rectangle 180"/>
          <p:cNvSpPr/>
          <p:nvPr/>
        </p:nvSpPr>
        <p:spPr>
          <a:xfrm>
            <a:off x="1490472" y="3995928"/>
            <a:ext cx="118872" cy="118872"/>
          </a:xfrm>
          <a:prstGeom prst="rect">
            <a:avLst/>
          </a:prstGeom>
          <a:solidFill>
            <a:srgbClr val="EE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2" name="Rectangle 181"/>
          <p:cNvSpPr/>
          <p:nvPr/>
        </p:nvSpPr>
        <p:spPr>
          <a:xfrm>
            <a:off x="1636776" y="3995928"/>
            <a:ext cx="118872" cy="118872"/>
          </a:xfrm>
          <a:prstGeom prst="rect">
            <a:avLst/>
          </a:prstGeom>
          <a:solidFill>
            <a:srgbClr val="EE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3" name="Rectangle 182"/>
          <p:cNvSpPr/>
          <p:nvPr/>
        </p:nvSpPr>
        <p:spPr>
          <a:xfrm>
            <a:off x="1783080" y="3995928"/>
            <a:ext cx="118872" cy="118872"/>
          </a:xfrm>
          <a:prstGeom prst="rect">
            <a:avLst/>
          </a:prstGeom>
          <a:solidFill>
            <a:srgbClr val="EE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4" name="Rectangle 183"/>
          <p:cNvSpPr/>
          <p:nvPr/>
        </p:nvSpPr>
        <p:spPr>
          <a:xfrm>
            <a:off x="1929384" y="3995928"/>
            <a:ext cx="118872" cy="118872"/>
          </a:xfrm>
          <a:prstGeom prst="rect">
            <a:avLst/>
          </a:prstGeom>
          <a:solidFill>
            <a:srgbClr val="EE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5" name="Rectangle 184"/>
          <p:cNvSpPr/>
          <p:nvPr/>
        </p:nvSpPr>
        <p:spPr>
          <a:xfrm>
            <a:off x="2075688" y="3995928"/>
            <a:ext cx="118872" cy="118872"/>
          </a:xfrm>
          <a:prstGeom prst="rect">
            <a:avLst/>
          </a:prstGeom>
          <a:solidFill>
            <a:srgbClr val="EE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6" name="Rectangle 185"/>
          <p:cNvSpPr/>
          <p:nvPr/>
        </p:nvSpPr>
        <p:spPr>
          <a:xfrm>
            <a:off x="2221991" y="3995928"/>
            <a:ext cx="118872" cy="118872"/>
          </a:xfrm>
          <a:prstGeom prst="rect">
            <a:avLst/>
          </a:prstGeom>
          <a:solidFill>
            <a:srgbClr val="EE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7" name="Rectangle 186"/>
          <p:cNvSpPr/>
          <p:nvPr/>
        </p:nvSpPr>
        <p:spPr>
          <a:xfrm>
            <a:off x="2368296" y="3995928"/>
            <a:ext cx="118872" cy="118872"/>
          </a:xfrm>
          <a:prstGeom prst="rect">
            <a:avLst/>
          </a:prstGeom>
          <a:solidFill>
            <a:srgbClr val="EE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8" name="Rectangle 187"/>
          <p:cNvSpPr/>
          <p:nvPr/>
        </p:nvSpPr>
        <p:spPr>
          <a:xfrm>
            <a:off x="2514600" y="3995928"/>
            <a:ext cx="118872" cy="118872"/>
          </a:xfrm>
          <a:prstGeom prst="rect">
            <a:avLst/>
          </a:prstGeom>
          <a:solidFill>
            <a:srgbClr val="EE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9" name="Rectangle 188"/>
          <p:cNvSpPr/>
          <p:nvPr/>
        </p:nvSpPr>
        <p:spPr>
          <a:xfrm>
            <a:off x="2660904" y="3995928"/>
            <a:ext cx="118872" cy="118872"/>
          </a:xfrm>
          <a:prstGeom prst="rect">
            <a:avLst/>
          </a:prstGeom>
          <a:solidFill>
            <a:srgbClr val="EE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0" name="Rectangle 189"/>
          <p:cNvSpPr/>
          <p:nvPr/>
        </p:nvSpPr>
        <p:spPr>
          <a:xfrm>
            <a:off x="2807208" y="3995928"/>
            <a:ext cx="118872" cy="118872"/>
          </a:xfrm>
          <a:prstGeom prst="rect">
            <a:avLst/>
          </a:prstGeom>
          <a:solidFill>
            <a:srgbClr val="EE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1" name="Rectangle 190"/>
          <p:cNvSpPr/>
          <p:nvPr/>
        </p:nvSpPr>
        <p:spPr>
          <a:xfrm>
            <a:off x="2953512" y="3995928"/>
            <a:ext cx="118872" cy="118872"/>
          </a:xfrm>
          <a:prstGeom prst="rect">
            <a:avLst/>
          </a:prstGeom>
          <a:solidFill>
            <a:srgbClr val="EE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2" name="Rectangle 191"/>
          <p:cNvSpPr/>
          <p:nvPr/>
        </p:nvSpPr>
        <p:spPr>
          <a:xfrm>
            <a:off x="1051560" y="4142232"/>
            <a:ext cx="118872" cy="118872"/>
          </a:xfrm>
          <a:prstGeom prst="rect">
            <a:avLst/>
          </a:prstGeom>
          <a:solidFill>
            <a:srgbClr val="EE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3" name="Rectangle 192"/>
          <p:cNvSpPr/>
          <p:nvPr/>
        </p:nvSpPr>
        <p:spPr>
          <a:xfrm>
            <a:off x="1197863" y="4142232"/>
            <a:ext cx="118872" cy="118872"/>
          </a:xfrm>
          <a:prstGeom prst="rect">
            <a:avLst/>
          </a:prstGeom>
          <a:solidFill>
            <a:srgbClr val="EE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4" name="Rectangle 193"/>
          <p:cNvSpPr/>
          <p:nvPr/>
        </p:nvSpPr>
        <p:spPr>
          <a:xfrm>
            <a:off x="1344168" y="4142232"/>
            <a:ext cx="118872" cy="118872"/>
          </a:xfrm>
          <a:prstGeom prst="rect">
            <a:avLst/>
          </a:prstGeom>
          <a:solidFill>
            <a:srgbClr val="EE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5" name="Rectangle 194"/>
          <p:cNvSpPr/>
          <p:nvPr/>
        </p:nvSpPr>
        <p:spPr>
          <a:xfrm>
            <a:off x="1490472" y="4142232"/>
            <a:ext cx="118872" cy="118872"/>
          </a:xfrm>
          <a:prstGeom prst="rect">
            <a:avLst/>
          </a:prstGeom>
          <a:solidFill>
            <a:srgbClr val="EE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6" name="Rectangle 195"/>
          <p:cNvSpPr/>
          <p:nvPr/>
        </p:nvSpPr>
        <p:spPr>
          <a:xfrm>
            <a:off x="1636776" y="4142232"/>
            <a:ext cx="118872" cy="118872"/>
          </a:xfrm>
          <a:prstGeom prst="rect">
            <a:avLst/>
          </a:prstGeom>
          <a:solidFill>
            <a:srgbClr val="EE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7" name="Rectangle 196"/>
          <p:cNvSpPr/>
          <p:nvPr/>
        </p:nvSpPr>
        <p:spPr>
          <a:xfrm>
            <a:off x="1783080" y="4142232"/>
            <a:ext cx="118872" cy="118872"/>
          </a:xfrm>
          <a:prstGeom prst="rect">
            <a:avLst/>
          </a:prstGeom>
          <a:solidFill>
            <a:srgbClr val="EE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8" name="Rectangle 197"/>
          <p:cNvSpPr/>
          <p:nvPr/>
        </p:nvSpPr>
        <p:spPr>
          <a:xfrm>
            <a:off x="1929384" y="4142232"/>
            <a:ext cx="118872" cy="118872"/>
          </a:xfrm>
          <a:prstGeom prst="rect">
            <a:avLst/>
          </a:prstGeom>
          <a:solidFill>
            <a:srgbClr val="EE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9" name="Rectangle 198"/>
          <p:cNvSpPr/>
          <p:nvPr/>
        </p:nvSpPr>
        <p:spPr>
          <a:xfrm>
            <a:off x="2075688" y="4142232"/>
            <a:ext cx="118872" cy="118872"/>
          </a:xfrm>
          <a:prstGeom prst="rect">
            <a:avLst/>
          </a:prstGeom>
          <a:solidFill>
            <a:srgbClr val="EE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0" name="Rectangle 199"/>
          <p:cNvSpPr/>
          <p:nvPr/>
        </p:nvSpPr>
        <p:spPr>
          <a:xfrm>
            <a:off x="2221991" y="4142232"/>
            <a:ext cx="118872" cy="118872"/>
          </a:xfrm>
          <a:prstGeom prst="rect">
            <a:avLst/>
          </a:prstGeom>
          <a:solidFill>
            <a:srgbClr val="EE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1" name="Rectangle 200"/>
          <p:cNvSpPr/>
          <p:nvPr/>
        </p:nvSpPr>
        <p:spPr>
          <a:xfrm>
            <a:off x="2368296" y="4142232"/>
            <a:ext cx="118872" cy="118872"/>
          </a:xfrm>
          <a:prstGeom prst="rect">
            <a:avLst/>
          </a:prstGeom>
          <a:solidFill>
            <a:srgbClr val="EE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2" name="Rectangle 201"/>
          <p:cNvSpPr/>
          <p:nvPr/>
        </p:nvSpPr>
        <p:spPr>
          <a:xfrm>
            <a:off x="2514600" y="4142232"/>
            <a:ext cx="118872" cy="118872"/>
          </a:xfrm>
          <a:prstGeom prst="rect">
            <a:avLst/>
          </a:prstGeom>
          <a:solidFill>
            <a:srgbClr val="EE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3" name="Rectangle 202"/>
          <p:cNvSpPr/>
          <p:nvPr/>
        </p:nvSpPr>
        <p:spPr>
          <a:xfrm>
            <a:off x="2660904" y="4142232"/>
            <a:ext cx="118872" cy="118872"/>
          </a:xfrm>
          <a:prstGeom prst="rect">
            <a:avLst/>
          </a:prstGeom>
          <a:solidFill>
            <a:srgbClr val="EE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4" name="Rectangle 203"/>
          <p:cNvSpPr/>
          <p:nvPr/>
        </p:nvSpPr>
        <p:spPr>
          <a:xfrm>
            <a:off x="2807208" y="4142232"/>
            <a:ext cx="118872" cy="118872"/>
          </a:xfrm>
          <a:prstGeom prst="rect">
            <a:avLst/>
          </a:prstGeom>
          <a:solidFill>
            <a:srgbClr val="EE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5" name="Rectangle 204"/>
          <p:cNvSpPr/>
          <p:nvPr/>
        </p:nvSpPr>
        <p:spPr>
          <a:xfrm>
            <a:off x="2953512" y="4142232"/>
            <a:ext cx="118872" cy="118872"/>
          </a:xfrm>
          <a:prstGeom prst="rect">
            <a:avLst/>
          </a:prstGeom>
          <a:solidFill>
            <a:srgbClr val="EEF2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6" name="TextBox 205"/>
          <p:cNvSpPr txBox="1"/>
          <p:nvPr/>
        </p:nvSpPr>
        <p:spPr>
          <a:xfrm>
            <a:off x="1143000" y="4526280"/>
            <a:ext cx="16459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82741"/>
                </a:solidFill>
              </a:defRPr>
            </a:pPr>
            <a:r>
              <a:t>28 × 28</a:t>
            </a:r>
          </a:p>
        </p:txBody>
      </p:sp>
      <p:sp>
        <p:nvSpPr>
          <p:cNvPr id="207" name="TextBox 206"/>
          <p:cNvSpPr txBox="1"/>
          <p:nvPr/>
        </p:nvSpPr>
        <p:spPr>
          <a:xfrm>
            <a:off x="914400" y="4892040"/>
            <a:ext cx="2286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0">
                <a:solidFill>
                  <a:srgbClr val="69737D"/>
                </a:solidFill>
              </a:defRPr>
            </a:pPr>
            <a:r>
              <a:t>handwritten digit image</a:t>
            </a:r>
          </a:p>
        </p:txBody>
      </p:sp>
      <p:cxnSp>
        <p:nvCxnSpPr>
          <p:cNvPr id="208" name="Connector 207"/>
          <p:cNvCxnSpPr/>
          <p:nvPr/>
        </p:nvCxnSpPr>
        <p:spPr>
          <a:xfrm>
            <a:off x="3429000" y="3566160"/>
            <a:ext cx="1188720" cy="0"/>
          </a:xfrm>
          <a:prstGeom prst="line">
            <a:avLst/>
          </a:prstGeom>
          <a:ln w="38100">
            <a:solidFill>
              <a:srgbClr val="1896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9" name="TextBox 208"/>
          <p:cNvSpPr txBox="1"/>
          <p:nvPr/>
        </p:nvSpPr>
        <p:spPr>
          <a:xfrm>
            <a:off x="3913632" y="3218688"/>
            <a:ext cx="4114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500" b="1">
                <a:solidFill>
                  <a:srgbClr val="189691"/>
                </a:solidFill>
              </a:defRPr>
            </a:pPr>
            <a:r>
              <a:t>→</a:t>
            </a:r>
          </a:p>
        </p:txBody>
      </p:sp>
      <p:sp>
        <p:nvSpPr>
          <p:cNvPr id="210" name="Rounded Rectangle 209"/>
          <p:cNvSpPr/>
          <p:nvPr/>
        </p:nvSpPr>
        <p:spPr>
          <a:xfrm>
            <a:off x="4709160" y="1417320"/>
            <a:ext cx="1234440" cy="347472"/>
          </a:xfrm>
          <a:prstGeom prst="roundRect">
            <a:avLst/>
          </a:prstGeom>
          <a:solidFill>
            <a:srgbClr val="6E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1" name="TextBox 210"/>
          <p:cNvSpPr txBox="1"/>
          <p:nvPr/>
        </p:nvSpPr>
        <p:spPr>
          <a:xfrm>
            <a:off x="4709160" y="1426464"/>
            <a:ext cx="12344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ML MODEL</a:t>
            </a:r>
          </a:p>
        </p:txBody>
      </p:sp>
      <p:sp>
        <p:nvSpPr>
          <p:cNvPr id="212" name="Oval 211"/>
          <p:cNvSpPr/>
          <p:nvPr/>
        </p:nvSpPr>
        <p:spPr>
          <a:xfrm>
            <a:off x="4709160" y="2057400"/>
            <a:ext cx="2331720" cy="2331720"/>
          </a:xfrm>
          <a:prstGeom prst="ellipse">
            <a:avLst/>
          </a:prstGeom>
          <a:solidFill>
            <a:srgbClr val="6E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3" name="TextBox 212"/>
          <p:cNvSpPr txBox="1"/>
          <p:nvPr/>
        </p:nvSpPr>
        <p:spPr>
          <a:xfrm>
            <a:off x="4709160" y="2697480"/>
            <a:ext cx="23317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500" b="1">
                <a:solidFill>
                  <a:srgbClr val="FFFFFF"/>
                </a:solidFill>
              </a:defRPr>
            </a:pPr>
            <a:r>
              <a:t>784</a:t>
            </a:r>
            <a:br/>
            <a:r>
              <a:t>PIXELS</a:t>
            </a:r>
          </a:p>
        </p:txBody>
      </p:sp>
      <p:sp>
        <p:nvSpPr>
          <p:cNvPr id="214" name="TextBox 213"/>
          <p:cNvSpPr txBox="1"/>
          <p:nvPr/>
        </p:nvSpPr>
        <p:spPr>
          <a:xfrm>
            <a:off x="4828032" y="4617720"/>
            <a:ext cx="2057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0">
                <a:solidFill>
                  <a:srgbClr val="69737D"/>
                </a:solidFill>
              </a:defRPr>
            </a:pPr>
            <a:r>
              <a:t>learn patterns</a:t>
            </a:r>
          </a:p>
        </p:txBody>
      </p:sp>
      <p:cxnSp>
        <p:nvCxnSpPr>
          <p:cNvPr id="215" name="Connector 214"/>
          <p:cNvCxnSpPr/>
          <p:nvPr/>
        </p:nvCxnSpPr>
        <p:spPr>
          <a:xfrm>
            <a:off x="7040880" y="3566160"/>
            <a:ext cx="1142999" cy="0"/>
          </a:xfrm>
          <a:prstGeom prst="line">
            <a:avLst/>
          </a:prstGeom>
          <a:ln w="38100">
            <a:solidFill>
              <a:srgbClr val="1896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6" name="TextBox 215"/>
          <p:cNvSpPr txBox="1"/>
          <p:nvPr/>
        </p:nvSpPr>
        <p:spPr>
          <a:xfrm>
            <a:off x="7479792" y="3218688"/>
            <a:ext cx="41148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500" b="1">
                <a:solidFill>
                  <a:srgbClr val="189691"/>
                </a:solidFill>
              </a:defRPr>
            </a:pPr>
            <a:r>
              <a:t>→</a:t>
            </a:r>
          </a:p>
        </p:txBody>
      </p:sp>
      <p:sp>
        <p:nvSpPr>
          <p:cNvPr id="217" name="Rounded Rectangle 216"/>
          <p:cNvSpPr/>
          <p:nvPr/>
        </p:nvSpPr>
        <p:spPr>
          <a:xfrm>
            <a:off x="8275320" y="1417320"/>
            <a:ext cx="1005840" cy="347472"/>
          </a:xfrm>
          <a:prstGeom prst="roundRect">
            <a:avLst/>
          </a:prstGeom>
          <a:solidFill>
            <a:srgbClr val="EB6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8" name="TextBox 217"/>
          <p:cNvSpPr txBox="1"/>
          <p:nvPr/>
        </p:nvSpPr>
        <p:spPr>
          <a:xfrm>
            <a:off x="8275320" y="1426464"/>
            <a:ext cx="10058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OUTPUT</a:t>
            </a:r>
          </a:p>
        </p:txBody>
      </p:sp>
      <p:sp>
        <p:nvSpPr>
          <p:cNvPr id="219" name="Rounded Rectangle 218"/>
          <p:cNvSpPr/>
          <p:nvPr/>
        </p:nvSpPr>
        <p:spPr>
          <a:xfrm>
            <a:off x="8138160" y="1874519"/>
            <a:ext cx="3154680" cy="3474720"/>
          </a:xfrm>
          <a:prstGeom prst="roundRect">
            <a:avLst/>
          </a:prstGeom>
          <a:solidFill>
            <a:srgbClr val="FFFFFF"/>
          </a:solidFill>
          <a:ln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0" name="Oval 219"/>
          <p:cNvSpPr/>
          <p:nvPr/>
        </p:nvSpPr>
        <p:spPr>
          <a:xfrm>
            <a:off x="8458200" y="2377440"/>
            <a:ext cx="411480" cy="411480"/>
          </a:xfrm>
          <a:prstGeom prst="ellipse">
            <a:avLst/>
          </a:prstGeom>
          <a:solidFill>
            <a:srgbClr val="E6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1" name="TextBox 220"/>
          <p:cNvSpPr txBox="1"/>
          <p:nvPr/>
        </p:nvSpPr>
        <p:spPr>
          <a:xfrm>
            <a:off x="8458200" y="2441448"/>
            <a:ext cx="4114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182741"/>
                </a:solidFill>
              </a:defRPr>
            </a:pPr>
            <a:r>
              <a:t>0</a:t>
            </a:r>
          </a:p>
        </p:txBody>
      </p:sp>
      <p:sp>
        <p:nvSpPr>
          <p:cNvPr id="222" name="Oval 221"/>
          <p:cNvSpPr/>
          <p:nvPr/>
        </p:nvSpPr>
        <p:spPr>
          <a:xfrm>
            <a:off x="8988552" y="2377440"/>
            <a:ext cx="411480" cy="411480"/>
          </a:xfrm>
          <a:prstGeom prst="ellipse">
            <a:avLst/>
          </a:prstGeom>
          <a:solidFill>
            <a:srgbClr val="E6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3" name="TextBox 222"/>
          <p:cNvSpPr txBox="1"/>
          <p:nvPr/>
        </p:nvSpPr>
        <p:spPr>
          <a:xfrm>
            <a:off x="8988552" y="2441448"/>
            <a:ext cx="4114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182741"/>
                </a:solidFill>
              </a:defRPr>
            </a:pPr>
            <a:r>
              <a:t>1</a:t>
            </a:r>
          </a:p>
        </p:txBody>
      </p:sp>
      <p:sp>
        <p:nvSpPr>
          <p:cNvPr id="224" name="Oval 223"/>
          <p:cNvSpPr/>
          <p:nvPr/>
        </p:nvSpPr>
        <p:spPr>
          <a:xfrm>
            <a:off x="9518904" y="2377440"/>
            <a:ext cx="411480" cy="411480"/>
          </a:xfrm>
          <a:prstGeom prst="ellipse">
            <a:avLst/>
          </a:prstGeom>
          <a:solidFill>
            <a:srgbClr val="E6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5" name="TextBox 224"/>
          <p:cNvSpPr txBox="1"/>
          <p:nvPr/>
        </p:nvSpPr>
        <p:spPr>
          <a:xfrm>
            <a:off x="9518904" y="2441448"/>
            <a:ext cx="4114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182741"/>
                </a:solidFill>
              </a:defRPr>
            </a:pPr>
            <a:r>
              <a:t>2</a:t>
            </a:r>
          </a:p>
        </p:txBody>
      </p:sp>
      <p:sp>
        <p:nvSpPr>
          <p:cNvPr id="226" name="Oval 225"/>
          <p:cNvSpPr/>
          <p:nvPr/>
        </p:nvSpPr>
        <p:spPr>
          <a:xfrm>
            <a:off x="10049256" y="2377440"/>
            <a:ext cx="411480" cy="411480"/>
          </a:xfrm>
          <a:prstGeom prst="ellipse">
            <a:avLst/>
          </a:prstGeom>
          <a:solidFill>
            <a:srgbClr val="E6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7" name="TextBox 226"/>
          <p:cNvSpPr txBox="1"/>
          <p:nvPr/>
        </p:nvSpPr>
        <p:spPr>
          <a:xfrm>
            <a:off x="10049256" y="2441448"/>
            <a:ext cx="4114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182741"/>
                </a:solidFill>
              </a:defRPr>
            </a:pPr>
            <a:r>
              <a:t>3</a:t>
            </a:r>
          </a:p>
        </p:txBody>
      </p:sp>
      <p:sp>
        <p:nvSpPr>
          <p:cNvPr id="228" name="Oval 227"/>
          <p:cNvSpPr/>
          <p:nvPr/>
        </p:nvSpPr>
        <p:spPr>
          <a:xfrm>
            <a:off x="10579608" y="2377440"/>
            <a:ext cx="411480" cy="411480"/>
          </a:xfrm>
          <a:prstGeom prst="ellipse">
            <a:avLst/>
          </a:prstGeom>
          <a:solidFill>
            <a:srgbClr val="E6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9" name="TextBox 228"/>
          <p:cNvSpPr txBox="1"/>
          <p:nvPr/>
        </p:nvSpPr>
        <p:spPr>
          <a:xfrm>
            <a:off x="10579608" y="2441448"/>
            <a:ext cx="4114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182741"/>
                </a:solidFill>
              </a:defRPr>
            </a:pPr>
            <a:r>
              <a:t>4</a:t>
            </a:r>
          </a:p>
        </p:txBody>
      </p:sp>
      <p:sp>
        <p:nvSpPr>
          <p:cNvPr id="230" name="Oval 229"/>
          <p:cNvSpPr/>
          <p:nvPr/>
        </p:nvSpPr>
        <p:spPr>
          <a:xfrm>
            <a:off x="8458200" y="3337560"/>
            <a:ext cx="411480" cy="411480"/>
          </a:xfrm>
          <a:prstGeom prst="ellipse">
            <a:avLst/>
          </a:prstGeom>
          <a:solidFill>
            <a:srgbClr val="E6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1" name="TextBox 230"/>
          <p:cNvSpPr txBox="1"/>
          <p:nvPr/>
        </p:nvSpPr>
        <p:spPr>
          <a:xfrm>
            <a:off x="8458200" y="3401568"/>
            <a:ext cx="4114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182741"/>
                </a:solidFill>
              </a:defRPr>
            </a:pPr>
            <a:r>
              <a:t>5</a:t>
            </a:r>
          </a:p>
        </p:txBody>
      </p:sp>
      <p:sp>
        <p:nvSpPr>
          <p:cNvPr id="232" name="Oval 231"/>
          <p:cNvSpPr/>
          <p:nvPr/>
        </p:nvSpPr>
        <p:spPr>
          <a:xfrm>
            <a:off x="8988552" y="3337560"/>
            <a:ext cx="411480" cy="411480"/>
          </a:xfrm>
          <a:prstGeom prst="ellipse">
            <a:avLst/>
          </a:prstGeom>
          <a:solidFill>
            <a:srgbClr val="E6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3" name="TextBox 232"/>
          <p:cNvSpPr txBox="1"/>
          <p:nvPr/>
        </p:nvSpPr>
        <p:spPr>
          <a:xfrm>
            <a:off x="8988552" y="3401568"/>
            <a:ext cx="4114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182741"/>
                </a:solidFill>
              </a:defRPr>
            </a:pPr>
            <a:r>
              <a:t>6</a:t>
            </a:r>
          </a:p>
        </p:txBody>
      </p:sp>
      <p:sp>
        <p:nvSpPr>
          <p:cNvPr id="234" name="Oval 233"/>
          <p:cNvSpPr/>
          <p:nvPr/>
        </p:nvSpPr>
        <p:spPr>
          <a:xfrm>
            <a:off x="9518904" y="3337560"/>
            <a:ext cx="411480" cy="411480"/>
          </a:xfrm>
          <a:prstGeom prst="ellipse">
            <a:avLst/>
          </a:prstGeom>
          <a:solidFill>
            <a:srgbClr val="18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5" name="TextBox 234"/>
          <p:cNvSpPr txBox="1"/>
          <p:nvPr/>
        </p:nvSpPr>
        <p:spPr>
          <a:xfrm>
            <a:off x="9518904" y="3401568"/>
            <a:ext cx="4114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236" name="Oval 235"/>
          <p:cNvSpPr/>
          <p:nvPr/>
        </p:nvSpPr>
        <p:spPr>
          <a:xfrm>
            <a:off x="10049256" y="3337560"/>
            <a:ext cx="411480" cy="411480"/>
          </a:xfrm>
          <a:prstGeom prst="ellipse">
            <a:avLst/>
          </a:prstGeom>
          <a:solidFill>
            <a:srgbClr val="E6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7" name="TextBox 236"/>
          <p:cNvSpPr txBox="1"/>
          <p:nvPr/>
        </p:nvSpPr>
        <p:spPr>
          <a:xfrm>
            <a:off x="10049256" y="3401568"/>
            <a:ext cx="4114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182741"/>
                </a:solidFill>
              </a:defRPr>
            </a:pPr>
            <a:r>
              <a:t>8</a:t>
            </a:r>
          </a:p>
        </p:txBody>
      </p:sp>
      <p:sp>
        <p:nvSpPr>
          <p:cNvPr id="238" name="Oval 237"/>
          <p:cNvSpPr/>
          <p:nvPr/>
        </p:nvSpPr>
        <p:spPr>
          <a:xfrm>
            <a:off x="10579608" y="3337560"/>
            <a:ext cx="411480" cy="411480"/>
          </a:xfrm>
          <a:prstGeom prst="ellipse">
            <a:avLst/>
          </a:prstGeom>
          <a:solidFill>
            <a:srgbClr val="E6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9" name="TextBox 238"/>
          <p:cNvSpPr txBox="1"/>
          <p:nvPr/>
        </p:nvSpPr>
        <p:spPr>
          <a:xfrm>
            <a:off x="10579608" y="3401568"/>
            <a:ext cx="41148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182741"/>
                </a:solidFill>
              </a:defRPr>
            </a:pPr>
            <a:r>
              <a:t>9</a:t>
            </a:r>
          </a:p>
        </p:txBody>
      </p:sp>
      <p:sp>
        <p:nvSpPr>
          <p:cNvPr id="240" name="TextBox 239"/>
          <p:cNvSpPr txBox="1"/>
          <p:nvPr/>
        </p:nvSpPr>
        <p:spPr>
          <a:xfrm>
            <a:off x="8321040" y="4526280"/>
            <a:ext cx="27889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0">
                <a:solidFill>
                  <a:srgbClr val="69737D"/>
                </a:solidFill>
              </a:defRPr>
            </a:pPr>
            <a:r>
              <a:t>Predict one of 10 classes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8229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82741"/>
                </a:solidFill>
              </a:defRPr>
            </a:pPr>
            <a:r>
              <a:t>2. 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841248"/>
            <a:ext cx="10515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69737D"/>
                </a:solidFill>
              </a:defRPr>
            </a:pPr>
            <a:r>
              <a:t>Convert a 28×28 handwritten image into a digit prediction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28232"/>
            <a:ext cx="5486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00" b="1">
                <a:solidFill>
                  <a:srgbClr val="69737D"/>
                </a:solidFill>
              </a:defRPr>
            </a:pPr>
            <a: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365760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719072"/>
            <a:ext cx="29260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189691"/>
                </a:solidFill>
              </a:defRPr>
            </a:pPr>
            <a:r>
              <a:t>HANDWRITTEN 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240280"/>
            <a:ext cx="3200400" cy="1920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0" b="1">
                <a:solidFill>
                  <a:srgbClr val="182741"/>
                </a:solidFill>
              </a:defRPr>
            </a:pPr>
            <a:r>
              <a:t>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617720"/>
            <a:ext cx="32004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0">
                <a:solidFill>
                  <a:srgbClr val="69737D"/>
                </a:solidFill>
              </a:defRPr>
            </a:pPr>
            <a:r>
              <a:t>Pixel values: 0 → 255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343400" y="3566160"/>
            <a:ext cx="1280160" cy="0"/>
          </a:xfrm>
          <a:prstGeom prst="line">
            <a:avLst/>
          </a:prstGeom>
          <a:ln w="38100">
            <a:solidFill>
              <a:srgbClr val="1896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754880" y="320040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600" b="1">
                <a:solidFill>
                  <a:srgbClr val="189691"/>
                </a:solidFill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0" y="1417320"/>
            <a:ext cx="2743200" cy="4526280"/>
          </a:xfrm>
          <a:prstGeom prst="roundRect">
            <a:avLst/>
          </a:prstGeom>
          <a:solidFill>
            <a:srgbClr val="E6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989320" y="1737360"/>
            <a:ext cx="2103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6E5CAA"/>
                </a:solidFill>
              </a:defRPr>
            </a:pPr>
            <a:r>
              <a:t>FEATURE VECTOR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2331720"/>
            <a:ext cx="1645920" cy="228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6217920" y="2331720"/>
            <a:ext cx="457200" cy="228600"/>
          </a:xfrm>
          <a:prstGeom prst="roundRect">
            <a:avLst/>
          </a:prstGeom>
          <a:solidFill>
            <a:srgbClr val="6E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217920" y="2697479"/>
            <a:ext cx="1645920" cy="228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6217920" y="2697479"/>
            <a:ext cx="685800" cy="228600"/>
          </a:xfrm>
          <a:prstGeom prst="roundRect">
            <a:avLst/>
          </a:prstGeom>
          <a:solidFill>
            <a:srgbClr val="6E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217920" y="3063239"/>
            <a:ext cx="1645920" cy="228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6217920" y="3063239"/>
            <a:ext cx="914400" cy="228600"/>
          </a:xfrm>
          <a:prstGeom prst="roundRect">
            <a:avLst/>
          </a:prstGeom>
          <a:solidFill>
            <a:srgbClr val="6E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6217920" y="3429000"/>
            <a:ext cx="1645920" cy="228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6217920" y="3429000"/>
            <a:ext cx="1143000" cy="228600"/>
          </a:xfrm>
          <a:prstGeom prst="roundRect">
            <a:avLst/>
          </a:prstGeom>
          <a:solidFill>
            <a:srgbClr val="6E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6217920" y="3794760"/>
            <a:ext cx="1645920" cy="228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ounded Rectangle 23"/>
          <p:cNvSpPr/>
          <p:nvPr/>
        </p:nvSpPr>
        <p:spPr>
          <a:xfrm>
            <a:off x="6217920" y="3794760"/>
            <a:ext cx="457200" cy="228600"/>
          </a:xfrm>
          <a:prstGeom prst="roundRect">
            <a:avLst/>
          </a:prstGeom>
          <a:solidFill>
            <a:srgbClr val="6E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6217920" y="4160520"/>
            <a:ext cx="1645920" cy="228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6217920" y="4160520"/>
            <a:ext cx="685800" cy="228600"/>
          </a:xfrm>
          <a:prstGeom prst="roundRect">
            <a:avLst/>
          </a:prstGeom>
          <a:solidFill>
            <a:srgbClr val="6E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6217920" y="4526280"/>
            <a:ext cx="1645920" cy="228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ounded Rectangle 27"/>
          <p:cNvSpPr/>
          <p:nvPr/>
        </p:nvSpPr>
        <p:spPr>
          <a:xfrm>
            <a:off x="6217920" y="4526280"/>
            <a:ext cx="914400" cy="228600"/>
          </a:xfrm>
          <a:prstGeom prst="roundRect">
            <a:avLst/>
          </a:prstGeom>
          <a:solidFill>
            <a:srgbClr val="6E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ounded Rectangle 28"/>
          <p:cNvSpPr/>
          <p:nvPr/>
        </p:nvSpPr>
        <p:spPr>
          <a:xfrm>
            <a:off x="6217920" y="4892040"/>
            <a:ext cx="1645920" cy="228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6217920" y="4892040"/>
            <a:ext cx="1143000" cy="228600"/>
          </a:xfrm>
          <a:prstGeom prst="roundRect">
            <a:avLst/>
          </a:prstGeom>
          <a:solidFill>
            <a:srgbClr val="6E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989320" y="5257800"/>
            <a:ext cx="21031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0">
                <a:solidFill>
                  <a:srgbClr val="69737D"/>
                </a:solidFill>
              </a:defRPr>
            </a:pPr>
            <a:r>
              <a:t>784 numerical inputs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8412480" y="3566160"/>
            <a:ext cx="960120" cy="0"/>
          </a:xfrm>
          <a:prstGeom prst="line">
            <a:avLst/>
          </a:prstGeom>
          <a:ln w="38100">
            <a:solidFill>
              <a:srgbClr val="1896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8759952" y="3200400"/>
            <a:ext cx="4572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600" b="1">
                <a:solidFill>
                  <a:srgbClr val="189691"/>
                </a:solidFill>
              </a:defRPr>
            </a:pPr>
            <a:r>
              <a:t>→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418320" y="1417320"/>
            <a:ext cx="210312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9646920" y="1737360"/>
            <a:ext cx="16459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1">
                <a:solidFill>
                  <a:srgbClr val="EB6F8C"/>
                </a:solidFill>
              </a:defRPr>
            </a:pPr>
            <a:r>
              <a:t>PREDICTION</a:t>
            </a:r>
          </a:p>
        </p:txBody>
      </p:sp>
      <p:sp>
        <p:nvSpPr>
          <p:cNvPr id="36" name="Oval 35"/>
          <p:cNvSpPr/>
          <p:nvPr/>
        </p:nvSpPr>
        <p:spPr>
          <a:xfrm>
            <a:off x="9893808" y="2514600"/>
            <a:ext cx="1143000" cy="1143000"/>
          </a:xfrm>
          <a:prstGeom prst="ellipse">
            <a:avLst/>
          </a:prstGeom>
          <a:solidFill>
            <a:srgbClr val="EB6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9893808" y="2743200"/>
            <a:ext cx="11430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4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46920" y="4069080"/>
            <a:ext cx="16459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>
                <a:solidFill>
                  <a:srgbClr val="182741"/>
                </a:solidFill>
              </a:defRPr>
            </a:pPr>
            <a:r>
              <a:t>One of</a:t>
            </a:r>
            <a:br/>
            <a:r>
              <a:t>0–9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8229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82741"/>
                </a:solidFill>
              </a:defRPr>
            </a:pPr>
            <a:r>
              <a:t>3. 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841248"/>
            <a:ext cx="10515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69737D"/>
                </a:solidFill>
              </a:defRPr>
            </a:pPr>
            <a:r>
              <a:t>Project goals in a visual checklist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28232"/>
            <a:ext cx="5486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00" b="1">
                <a:solidFill>
                  <a:srgbClr val="69737D"/>
                </a:solidFill>
              </a:defRPr>
            </a:pPr>
            <a:r>
              <a:t>04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17320"/>
            <a:ext cx="333756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960120" y="1673352"/>
            <a:ext cx="594360" cy="594360"/>
          </a:xfrm>
          <a:prstGeom prst="ellipse">
            <a:avLst/>
          </a:prstGeom>
          <a:solidFill>
            <a:srgbClr val="18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1773936"/>
            <a:ext cx="59436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19072" y="1645920"/>
            <a:ext cx="20116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700" b="1">
                <a:solidFill>
                  <a:srgbClr val="182741"/>
                </a:solidFill>
              </a:defRPr>
            </a:pPr>
            <a:r>
              <a:t>Load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19072" y="2167128"/>
            <a:ext cx="20116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>
                <a:solidFill>
                  <a:srgbClr val="69737D"/>
                </a:solidFill>
              </a:defRPr>
            </a:pPr>
            <a:r>
              <a:t>MNIST dataset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0559" y="1417320"/>
            <a:ext cx="333756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4709159" y="1673352"/>
            <a:ext cx="594360" cy="594360"/>
          </a:xfrm>
          <a:prstGeom prst="ellipse">
            <a:avLst/>
          </a:prstGeom>
          <a:solidFill>
            <a:srgbClr val="6E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709159" y="1773936"/>
            <a:ext cx="59436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68112" y="1645920"/>
            <a:ext cx="20116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700" b="1">
                <a:solidFill>
                  <a:srgbClr val="182741"/>
                </a:solidFill>
              </a:defRPr>
            </a:pPr>
            <a:r>
              <a:t>Explore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68112" y="2167128"/>
            <a:ext cx="20116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>
                <a:solidFill>
                  <a:srgbClr val="69737D"/>
                </a:solidFill>
              </a:defRPr>
            </a:pPr>
            <a:r>
              <a:t>View sample digits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0" y="1417320"/>
            <a:ext cx="333756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8458200" y="1673352"/>
            <a:ext cx="594360" cy="594360"/>
          </a:xfrm>
          <a:prstGeom prst="ellipse">
            <a:avLst/>
          </a:prstGeom>
          <a:solidFill>
            <a:srgbClr val="F5A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458200" y="1773936"/>
            <a:ext cx="59436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17152" y="1645920"/>
            <a:ext cx="20116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700" b="1">
                <a:solidFill>
                  <a:srgbClr val="182741"/>
                </a:solidFill>
              </a:defRPr>
            </a:pPr>
            <a:r>
              <a:t>Prepare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17152" y="2167128"/>
            <a:ext cx="20116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>
                <a:solidFill>
                  <a:srgbClr val="69737D"/>
                </a:solidFill>
              </a:defRPr>
            </a:pPr>
            <a:r>
              <a:t>Normalize pixels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3657600"/>
            <a:ext cx="333756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960120" y="3913632"/>
            <a:ext cx="594360" cy="594360"/>
          </a:xfrm>
          <a:prstGeom prst="ellipse">
            <a:avLst/>
          </a:prstGeom>
          <a:solidFill>
            <a:srgbClr val="EB6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60120" y="4014215"/>
            <a:ext cx="59436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19072" y="3886200"/>
            <a:ext cx="20116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700" b="1">
                <a:solidFill>
                  <a:srgbClr val="182741"/>
                </a:solidFill>
              </a:defRPr>
            </a:pPr>
            <a:r>
              <a:t>Train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19072" y="4407408"/>
            <a:ext cx="20116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>
                <a:solidFill>
                  <a:srgbClr val="69737D"/>
                </a:solidFill>
              </a:defRPr>
            </a:pPr>
            <a:r>
              <a:t>Build classifier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480559" y="3657600"/>
            <a:ext cx="333756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4709159" y="3913632"/>
            <a:ext cx="594360" cy="594360"/>
          </a:xfrm>
          <a:prstGeom prst="ellipse">
            <a:avLst/>
          </a:prstGeom>
          <a:solidFill>
            <a:srgbClr val="46A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709159" y="4014215"/>
            <a:ext cx="59436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68112" y="3886200"/>
            <a:ext cx="20116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700" b="1">
                <a:solidFill>
                  <a:srgbClr val="182741"/>
                </a:solidFill>
              </a:defRPr>
            </a:pPr>
            <a:r>
              <a:t>Evaluate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68112" y="4407408"/>
            <a:ext cx="20116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>
                <a:solidFill>
                  <a:srgbClr val="69737D"/>
                </a:solidFill>
              </a:defRPr>
            </a:pPr>
            <a:r>
              <a:t>Measure accuracy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229600" y="3657600"/>
            <a:ext cx="3337560" cy="1783080"/>
          </a:xfrm>
          <a:prstGeom prst="roundRect">
            <a:avLst/>
          </a:prstGeom>
          <a:solidFill>
            <a:srgbClr val="FFFFFF"/>
          </a:solidFill>
          <a:ln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8458200" y="3913632"/>
            <a:ext cx="594360" cy="594360"/>
          </a:xfrm>
          <a:prstGeom prst="ellipse">
            <a:avLst/>
          </a:prstGeom>
          <a:solidFill>
            <a:srgbClr val="45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458200" y="4014215"/>
            <a:ext cx="594360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06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17152" y="3886200"/>
            <a:ext cx="20116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700" b="1">
                <a:solidFill>
                  <a:srgbClr val="182741"/>
                </a:solidFill>
              </a:defRPr>
            </a:pPr>
            <a:r>
              <a:t>Predict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217152" y="4407408"/>
            <a:ext cx="20116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>
                <a:solidFill>
                  <a:srgbClr val="69737D"/>
                </a:solidFill>
              </a:defRPr>
            </a:pPr>
            <a:r>
              <a:t>Recognize new digits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8229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82741"/>
                </a:solidFill>
              </a:defRPr>
            </a:pPr>
            <a:r>
              <a:t>4. Dataset &amp; Image Structure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841248"/>
            <a:ext cx="10515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69737D"/>
                </a:solidFill>
              </a:defRPr>
            </a:pPr>
            <a:r>
              <a:t>MNIST handwritten digit dataset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28232"/>
            <a:ext cx="5486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00" b="1">
                <a:solidFill>
                  <a:srgbClr val="69737D"/>
                </a:solidFill>
              </a:defRPr>
            </a:pPr>
            <a:r>
              <a:t>05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71600"/>
            <a:ext cx="3246120" cy="4709160"/>
          </a:xfrm>
          <a:prstGeom prst="roundRect">
            <a:avLst/>
          </a:prstGeom>
          <a:solidFill>
            <a:srgbClr val="FFFFFF"/>
          </a:solidFill>
          <a:ln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1371600"/>
            <a:ext cx="73152" cy="4709160"/>
          </a:xfrm>
          <a:prstGeom prst="rect">
            <a:avLst/>
          </a:prstGeom>
          <a:solidFill>
            <a:srgbClr val="18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1554480"/>
            <a:ext cx="27889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>
                <a:solidFill>
                  <a:srgbClr val="182741"/>
                </a:solidFill>
              </a:defRPr>
            </a:pPr>
            <a:r>
              <a:t>DATASET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0005" y="1806910"/>
            <a:ext cx="2788920" cy="3931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69737D"/>
                </a:solidFill>
              </a:defRPr>
            </a:pPr>
            <a:r>
              <a:rPr dirty="0"/>
              <a:t>70,000 labeled images</a:t>
            </a:r>
            <a:br>
              <a:rPr dirty="0"/>
            </a:br>
            <a:r>
              <a:rPr dirty="0"/>
              <a:t>60,000 training + 10,000 test</a:t>
            </a:r>
            <a:br>
              <a:rPr dirty="0"/>
            </a:br>
            <a:r>
              <a:rPr dirty="0"/>
              <a:t>10 digit classes: 0–9</a:t>
            </a:r>
            <a:br>
              <a:rPr dirty="0"/>
            </a:br>
            <a:r>
              <a:rPr dirty="0"/>
              <a:t/>
            </a:r>
            <a:br>
              <a:rPr dirty="0"/>
            </a:br>
            <a:r>
              <a:rPr dirty="0"/>
              <a:t>Each image: 28 × 28 pixels</a:t>
            </a:r>
            <a:br>
              <a:rPr dirty="0"/>
            </a:br>
            <a:r>
              <a:rPr dirty="0"/>
              <a:t>784 pixel features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51960" y="1481328"/>
            <a:ext cx="20116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182741"/>
                </a:solidFill>
              </a:defRPr>
            </a:pPr>
            <a:r>
              <a:t>SAMPLE DIGITS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51960" y="2057400"/>
            <a:ext cx="10972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251960" y="2130552"/>
            <a:ext cx="10972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400" b="1">
                <a:solidFill>
                  <a:srgbClr val="189691"/>
                </a:solidFill>
              </a:defRPr>
            </a:pPr>
            <a:r>
              <a:t>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05272" y="2057400"/>
            <a:ext cx="10972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605272" y="2130552"/>
            <a:ext cx="10972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400" b="1">
                <a:solidFill>
                  <a:srgbClr val="6E5CAA"/>
                </a:solidFill>
              </a:defRPr>
            </a:pPr>
            <a:r>
              <a:t>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58584" y="2057400"/>
            <a:ext cx="10972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958584" y="2130552"/>
            <a:ext cx="10972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400" b="1">
                <a:solidFill>
                  <a:srgbClr val="F5A64B"/>
                </a:solidFill>
              </a:defRPr>
            </a:pPr>
            <a:r>
              <a:t>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311896" y="2057400"/>
            <a:ext cx="10972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311896" y="2130552"/>
            <a:ext cx="10972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400" b="1">
                <a:solidFill>
                  <a:srgbClr val="EB6F8C"/>
                </a:solidFill>
              </a:defRPr>
            </a:pPr>
            <a:r>
              <a:t>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665208" y="2057400"/>
            <a:ext cx="10972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665208" y="2130552"/>
            <a:ext cx="10972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400" b="1">
                <a:solidFill>
                  <a:srgbClr val="46A56E"/>
                </a:solidFill>
              </a:defRPr>
            </a:pPr>
            <a:r>
              <a:t>4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251960" y="3566160"/>
            <a:ext cx="10972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251960" y="3639312"/>
            <a:ext cx="10972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400" b="1">
                <a:solidFill>
                  <a:srgbClr val="189691"/>
                </a:solidFill>
              </a:defRPr>
            </a:pPr>
            <a:r>
              <a:t>5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05272" y="3566160"/>
            <a:ext cx="10972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605272" y="3639312"/>
            <a:ext cx="10972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400" b="1">
                <a:solidFill>
                  <a:srgbClr val="6E5CAA"/>
                </a:solidFill>
              </a:defRPr>
            </a:pPr>
            <a:r>
              <a:t>6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958584" y="3566160"/>
            <a:ext cx="10972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958584" y="3639312"/>
            <a:ext cx="10972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400" b="1">
                <a:solidFill>
                  <a:srgbClr val="F5A64B"/>
                </a:solidFill>
              </a:defRPr>
            </a:pPr>
            <a:r>
              <a:t>7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311896" y="3566160"/>
            <a:ext cx="10972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311896" y="3639312"/>
            <a:ext cx="10972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400" b="1">
                <a:solidFill>
                  <a:srgbClr val="EB6F8C"/>
                </a:solidFill>
              </a:defRPr>
            </a:pPr>
            <a:r>
              <a:t>8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665208" y="3566160"/>
            <a:ext cx="109728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665208" y="3639312"/>
            <a:ext cx="10972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400" b="1">
                <a:solidFill>
                  <a:srgbClr val="46A56E"/>
                </a:solidFill>
              </a:defRPr>
            </a:pPr>
            <a:r>
              <a:t>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51960" y="5394960"/>
            <a:ext cx="64922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300" b="0">
                <a:solidFill>
                  <a:srgbClr val="69737D"/>
                </a:solidFill>
              </a:defRPr>
            </a:pPr>
            <a:r>
              <a:t>Each image is converted into numerical pixel values for model training.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8229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82741"/>
                </a:solidFill>
              </a:defRPr>
            </a:pPr>
            <a:r>
              <a:t>5. Technologies &amp; Tools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841248"/>
            <a:ext cx="10515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69737D"/>
                </a:solidFill>
              </a:defRPr>
            </a:pPr>
            <a:r>
              <a:t>Technology stack used for the MNIST project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28232"/>
            <a:ext cx="5486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00" b="1">
                <a:solidFill>
                  <a:srgbClr val="69737D"/>
                </a:solidFill>
              </a:defRPr>
            </a:pPr>
            <a:r>
              <a:t>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246888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914400" y="1673352"/>
            <a:ext cx="658368" cy="658368"/>
          </a:xfrm>
          <a:prstGeom prst="ellipse">
            <a:avLst/>
          </a:prstGeom>
          <a:solidFill>
            <a:srgbClr val="18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1828800"/>
            <a:ext cx="658368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PY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91640" y="1645920"/>
            <a:ext cx="12344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>
                <a:solidFill>
                  <a:srgbClr val="182741"/>
                </a:solidFill>
              </a:defRPr>
            </a:pPr>
            <a:r>
              <a:t>Python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1640" y="2167128"/>
            <a:ext cx="12344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69737D"/>
                </a:solidFill>
              </a:defRPr>
            </a:pPr>
            <a:r>
              <a:t>Programming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74720" y="1417320"/>
            <a:ext cx="246888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3703320" y="1673352"/>
            <a:ext cx="658368" cy="658368"/>
          </a:xfrm>
          <a:prstGeom prst="ellipse">
            <a:avLst/>
          </a:prstGeom>
          <a:solidFill>
            <a:srgbClr val="6E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703320" y="1828800"/>
            <a:ext cx="658368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NP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1645920"/>
            <a:ext cx="12344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>
                <a:solidFill>
                  <a:srgbClr val="182741"/>
                </a:solidFill>
              </a:defRPr>
            </a:pPr>
            <a:r>
              <a:t>NumPy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2167128"/>
            <a:ext cx="12344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69737D"/>
                </a:solidFill>
              </a:defRPr>
            </a:pPr>
            <a:r>
              <a:t>Pixel arrays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1417320"/>
            <a:ext cx="246888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6492240" y="1673352"/>
            <a:ext cx="658368" cy="658368"/>
          </a:xfrm>
          <a:prstGeom prst="ellipse">
            <a:avLst/>
          </a:prstGeom>
          <a:solidFill>
            <a:srgbClr val="F5A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492240" y="1828800"/>
            <a:ext cx="658368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MP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69479" y="1645920"/>
            <a:ext cx="12344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>
                <a:solidFill>
                  <a:srgbClr val="182741"/>
                </a:solidFill>
              </a:defRPr>
            </a:pPr>
            <a:r>
              <a:t>Matplotlib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69479" y="2167128"/>
            <a:ext cx="12344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69737D"/>
                </a:solidFill>
              </a:defRPr>
            </a:pPr>
            <a:r>
              <a:t>Image display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52559" y="1417320"/>
            <a:ext cx="246888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9281159" y="1673352"/>
            <a:ext cx="658368" cy="658368"/>
          </a:xfrm>
          <a:prstGeom prst="ellipse">
            <a:avLst/>
          </a:prstGeom>
          <a:solidFill>
            <a:srgbClr val="EB6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9281159" y="1828800"/>
            <a:ext cx="658368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SK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58399" y="1645920"/>
            <a:ext cx="12344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>
                <a:solidFill>
                  <a:srgbClr val="182741"/>
                </a:solidFill>
              </a:defRPr>
            </a:pPr>
            <a:r>
              <a:t>Scikit-learn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399" y="2167128"/>
            <a:ext cx="12344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69737D"/>
                </a:solidFill>
              </a:defRPr>
            </a:pPr>
            <a:r>
              <a:t>ML model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85800" y="3657600"/>
            <a:ext cx="246888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914400" y="3913632"/>
            <a:ext cx="658368" cy="658368"/>
          </a:xfrm>
          <a:prstGeom prst="ellipse">
            <a:avLst/>
          </a:prstGeom>
          <a:solidFill>
            <a:srgbClr val="46A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14400" y="4069080"/>
            <a:ext cx="658368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CO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691640" y="3886200"/>
            <a:ext cx="12344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>
                <a:solidFill>
                  <a:srgbClr val="182741"/>
                </a:solidFill>
              </a:defRPr>
            </a:pPr>
            <a:r>
              <a:t>Jupyter / Colab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91640" y="4407408"/>
            <a:ext cx="12344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69737D"/>
                </a:solidFill>
              </a:defRPr>
            </a:pPr>
            <a:r>
              <a:t>Notebook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474720" y="3657600"/>
            <a:ext cx="246888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3703320" y="3913632"/>
            <a:ext cx="658368" cy="658368"/>
          </a:xfrm>
          <a:prstGeom prst="ellipse">
            <a:avLst/>
          </a:prstGeom>
          <a:solidFill>
            <a:srgbClr val="45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703320" y="4069080"/>
            <a:ext cx="658368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PD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80560" y="3886200"/>
            <a:ext cx="12344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>
                <a:solidFill>
                  <a:srgbClr val="182741"/>
                </a:solidFill>
              </a:defRPr>
            </a:pPr>
            <a:r>
              <a:t>Pandas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80560" y="4407408"/>
            <a:ext cx="12344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69737D"/>
                </a:solidFill>
              </a:defRPr>
            </a:pPr>
            <a:r>
              <a:t>Data handling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263640" y="3657600"/>
            <a:ext cx="246888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6492240" y="3913632"/>
            <a:ext cx="658368" cy="658368"/>
          </a:xfrm>
          <a:prstGeom prst="ellipse">
            <a:avLst/>
          </a:prstGeom>
          <a:solidFill>
            <a:srgbClr val="1827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6492240" y="4069080"/>
            <a:ext cx="658368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GH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269479" y="3886200"/>
            <a:ext cx="12344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>
                <a:solidFill>
                  <a:srgbClr val="182741"/>
                </a:solidFill>
              </a:defRPr>
            </a:pPr>
            <a:r>
              <a:t>GitHub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69479" y="4407408"/>
            <a:ext cx="12344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69737D"/>
                </a:solidFill>
              </a:defRPr>
            </a:pPr>
            <a:r>
              <a:t>Version control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9052559" y="3657600"/>
            <a:ext cx="2468880" cy="1737360"/>
          </a:xfrm>
          <a:prstGeom prst="roundRect">
            <a:avLst/>
          </a:prstGeom>
          <a:solidFill>
            <a:srgbClr val="FFFFFF"/>
          </a:solidFill>
          <a:ln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9281159" y="3913632"/>
            <a:ext cx="658368" cy="658368"/>
          </a:xfrm>
          <a:prstGeom prst="ellipse">
            <a:avLst/>
          </a:prstGeom>
          <a:solidFill>
            <a:srgbClr val="6E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9281159" y="4069080"/>
            <a:ext cx="658368" cy="182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JB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058399" y="3886200"/>
            <a:ext cx="12344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>
                <a:solidFill>
                  <a:srgbClr val="182741"/>
                </a:solidFill>
              </a:defRPr>
            </a:pPr>
            <a:r>
              <a:t>Joblib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058399" y="4407408"/>
            <a:ext cx="123444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69737D"/>
                </a:solidFill>
              </a:defRPr>
            </a:pPr>
            <a:r>
              <a:t>Model saving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8229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82741"/>
                </a:solidFill>
              </a:defRPr>
            </a:pPr>
            <a:r>
              <a:t>6. Methodology /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841248"/>
            <a:ext cx="10515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69737D"/>
                </a:solidFill>
              </a:defRPr>
            </a:pPr>
            <a:r>
              <a:t>From raw pixels to predicted digit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28232"/>
            <a:ext cx="5486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00" b="1">
                <a:solidFill>
                  <a:srgbClr val="69737D"/>
                </a:solidFill>
              </a:defRPr>
            </a:pPr>
            <a:r>
              <a:t>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508760"/>
            <a:ext cx="25146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777240" y="1783080"/>
            <a:ext cx="566928" cy="566928"/>
          </a:xfrm>
          <a:prstGeom prst="ellipse">
            <a:avLst/>
          </a:prstGeom>
          <a:solidFill>
            <a:srgbClr val="18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77240" y="1892807"/>
            <a:ext cx="566928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1709928"/>
            <a:ext cx="13258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>
                <a:solidFill>
                  <a:srgbClr val="182741"/>
                </a:solidFill>
              </a:defRPr>
            </a:pPr>
            <a:r>
              <a:t>Load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2221991"/>
            <a:ext cx="13258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69737D"/>
                </a:solidFill>
              </a:defRPr>
            </a:pPr>
            <a:r>
              <a:t>MNIST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108960" y="2304288"/>
            <a:ext cx="338328" cy="0"/>
          </a:xfrm>
          <a:prstGeom prst="line">
            <a:avLst/>
          </a:prstGeom>
          <a:ln w="25400">
            <a:solidFill>
              <a:srgbClr val="1896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474720" y="1508760"/>
            <a:ext cx="25146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3657600" y="1783080"/>
            <a:ext cx="566928" cy="566928"/>
          </a:xfrm>
          <a:prstGeom prst="ellipse">
            <a:avLst/>
          </a:prstGeom>
          <a:solidFill>
            <a:srgbClr val="6E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657600" y="1892807"/>
            <a:ext cx="566928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89120" y="1709928"/>
            <a:ext cx="13258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>
                <a:solidFill>
                  <a:srgbClr val="182741"/>
                </a:solidFill>
              </a:defRPr>
            </a:pPr>
            <a:r>
              <a:t>Visualize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2221991"/>
            <a:ext cx="13258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69737D"/>
                </a:solidFill>
              </a:defRPr>
            </a:pPr>
            <a:r>
              <a:t>Samples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989320" y="2304288"/>
            <a:ext cx="338328" cy="0"/>
          </a:xfrm>
          <a:prstGeom prst="line">
            <a:avLst/>
          </a:prstGeom>
          <a:ln w="25400">
            <a:solidFill>
              <a:srgbClr val="1896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355080" y="1508760"/>
            <a:ext cx="25146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6537960" y="1783080"/>
            <a:ext cx="566928" cy="566928"/>
          </a:xfrm>
          <a:prstGeom prst="ellipse">
            <a:avLst/>
          </a:prstGeom>
          <a:solidFill>
            <a:srgbClr val="F5A6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37960" y="1892807"/>
            <a:ext cx="566928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69480" y="1709928"/>
            <a:ext cx="13258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>
                <a:solidFill>
                  <a:srgbClr val="182741"/>
                </a:solidFill>
              </a:defRPr>
            </a:pPr>
            <a:r>
              <a:t>Normalize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69480" y="2221991"/>
            <a:ext cx="13258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69737D"/>
                </a:solidFill>
              </a:defRPr>
            </a:pPr>
            <a:r>
              <a:t>0–1 pixels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869680" y="2304288"/>
            <a:ext cx="338328" cy="0"/>
          </a:xfrm>
          <a:prstGeom prst="line">
            <a:avLst/>
          </a:prstGeom>
          <a:ln w="25400">
            <a:solidFill>
              <a:srgbClr val="1896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235440" y="1508760"/>
            <a:ext cx="25146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9418319" y="1783080"/>
            <a:ext cx="566928" cy="566928"/>
          </a:xfrm>
          <a:prstGeom prst="ellipse">
            <a:avLst/>
          </a:prstGeom>
          <a:solidFill>
            <a:srgbClr val="EB6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418319" y="1892807"/>
            <a:ext cx="566928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49840" y="1709928"/>
            <a:ext cx="13258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>
                <a:solidFill>
                  <a:srgbClr val="182741"/>
                </a:solidFill>
              </a:defRPr>
            </a:pPr>
            <a:r>
              <a:t>Split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149840" y="2221991"/>
            <a:ext cx="13258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69737D"/>
                </a:solidFill>
              </a:defRPr>
            </a:pPr>
            <a:r>
              <a:t>Train / Test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94360" y="3749039"/>
            <a:ext cx="25146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777240" y="4023359"/>
            <a:ext cx="566928" cy="566928"/>
          </a:xfrm>
          <a:prstGeom prst="ellipse">
            <a:avLst/>
          </a:prstGeom>
          <a:solidFill>
            <a:srgbClr val="46A5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777240" y="4133087"/>
            <a:ext cx="566928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508760" y="3950207"/>
            <a:ext cx="13258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>
                <a:solidFill>
                  <a:srgbClr val="182741"/>
                </a:solidFill>
              </a:defRPr>
            </a:pPr>
            <a:r>
              <a:t>Train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508760" y="4462272"/>
            <a:ext cx="13258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69737D"/>
                </a:solidFill>
              </a:defRPr>
            </a:pPr>
            <a:r>
              <a:t>Classifier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3108960" y="4544568"/>
            <a:ext cx="338328" cy="0"/>
          </a:xfrm>
          <a:prstGeom prst="line">
            <a:avLst/>
          </a:prstGeom>
          <a:ln w="25400">
            <a:solidFill>
              <a:srgbClr val="1896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/>
          <p:cNvSpPr/>
          <p:nvPr/>
        </p:nvSpPr>
        <p:spPr>
          <a:xfrm>
            <a:off x="3474720" y="3749039"/>
            <a:ext cx="25146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3657600" y="4023359"/>
            <a:ext cx="566928" cy="566928"/>
          </a:xfrm>
          <a:prstGeom prst="ellipse">
            <a:avLst/>
          </a:prstGeom>
          <a:solidFill>
            <a:srgbClr val="45BE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3657600" y="4133087"/>
            <a:ext cx="566928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89120" y="3950207"/>
            <a:ext cx="13258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>
                <a:solidFill>
                  <a:srgbClr val="182741"/>
                </a:solidFill>
              </a:defRPr>
            </a:pPr>
            <a:r>
              <a:t>Predict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389120" y="4462272"/>
            <a:ext cx="13258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69737D"/>
                </a:solidFill>
              </a:defRPr>
            </a:pPr>
            <a:r>
              <a:t>Digits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5989320" y="4544568"/>
            <a:ext cx="338328" cy="0"/>
          </a:xfrm>
          <a:prstGeom prst="line">
            <a:avLst/>
          </a:prstGeom>
          <a:ln w="25400">
            <a:solidFill>
              <a:srgbClr val="1896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Rounded Rectangle 41"/>
          <p:cNvSpPr/>
          <p:nvPr/>
        </p:nvSpPr>
        <p:spPr>
          <a:xfrm>
            <a:off x="6355080" y="3749039"/>
            <a:ext cx="25146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Oval 42"/>
          <p:cNvSpPr/>
          <p:nvPr/>
        </p:nvSpPr>
        <p:spPr>
          <a:xfrm>
            <a:off x="6537960" y="4023359"/>
            <a:ext cx="566928" cy="566928"/>
          </a:xfrm>
          <a:prstGeom prst="ellipse">
            <a:avLst/>
          </a:prstGeom>
          <a:solidFill>
            <a:srgbClr val="6E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6537960" y="4133087"/>
            <a:ext cx="566928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269480" y="3950207"/>
            <a:ext cx="13258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>
                <a:solidFill>
                  <a:srgbClr val="182741"/>
                </a:solidFill>
              </a:defRPr>
            </a:pPr>
            <a:r>
              <a:t>Evaluate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269480" y="4462272"/>
            <a:ext cx="13258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69737D"/>
                </a:solidFill>
              </a:defRPr>
            </a:pPr>
            <a:r>
              <a:t>Accuracy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8869680" y="4544568"/>
            <a:ext cx="338328" cy="0"/>
          </a:xfrm>
          <a:prstGeom prst="line">
            <a:avLst/>
          </a:prstGeom>
          <a:ln w="25400">
            <a:solidFill>
              <a:srgbClr val="1896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ounded Rectangle 47"/>
          <p:cNvSpPr/>
          <p:nvPr/>
        </p:nvSpPr>
        <p:spPr>
          <a:xfrm>
            <a:off x="9235440" y="3749039"/>
            <a:ext cx="251460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Oval 48"/>
          <p:cNvSpPr/>
          <p:nvPr/>
        </p:nvSpPr>
        <p:spPr>
          <a:xfrm>
            <a:off x="9418319" y="4023359"/>
            <a:ext cx="566928" cy="566928"/>
          </a:xfrm>
          <a:prstGeom prst="ellipse">
            <a:avLst/>
          </a:prstGeom>
          <a:solidFill>
            <a:srgbClr val="1827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9418319" y="4133087"/>
            <a:ext cx="566928" cy="2011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8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149840" y="3950207"/>
            <a:ext cx="13258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>
                <a:solidFill>
                  <a:srgbClr val="182741"/>
                </a:solidFill>
              </a:defRPr>
            </a:pPr>
            <a:r>
              <a:t>Save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149840" y="4462272"/>
            <a:ext cx="13258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69737D"/>
                </a:solidFill>
              </a:defRPr>
            </a:pPr>
            <a:r>
              <a:t>Notebook + README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11384280" y="2304288"/>
            <a:ext cx="0" cy="1444751"/>
          </a:xfrm>
          <a:prstGeom prst="line">
            <a:avLst/>
          </a:prstGeom>
          <a:ln w="25400">
            <a:solidFill>
              <a:srgbClr val="1896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8229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82741"/>
                </a:solidFill>
              </a:defRPr>
            </a:pPr>
            <a:r>
              <a:t>7. Data Preprocessing &amp; EDA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841248"/>
            <a:ext cx="10515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69737D"/>
                </a:solidFill>
              </a:defRPr>
            </a:pPr>
            <a:r>
              <a:t>Pixel normalization and visual inspection of handwritten samples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28232"/>
            <a:ext cx="5486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00" b="1">
                <a:solidFill>
                  <a:srgbClr val="69737D"/>
                </a:solidFill>
              </a:defRPr>
            </a:pPr>
            <a:r>
              <a:t>08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371600"/>
            <a:ext cx="6720840" cy="4800600"/>
          </a:xfrm>
          <a:prstGeom prst="roundRect">
            <a:avLst/>
          </a:prstGeom>
          <a:solidFill>
            <a:srgbClr val="FFFFFF"/>
          </a:solidFill>
          <a:ln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1664208"/>
            <a:ext cx="18288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182741"/>
                </a:solidFill>
              </a:defRPr>
            </a:pPr>
            <a:r>
              <a:t>PIXEL PIPELINE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331720"/>
            <a:ext cx="9144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69737D"/>
                </a:solidFill>
              </a:defRPr>
            </a:pPr>
            <a:r>
              <a:t>RAW</a:t>
            </a:r>
          </a:p>
        </p:txBody>
      </p:sp>
      <p:sp>
        <p:nvSpPr>
          <p:cNvPr id="10" name="Rectangle 9"/>
          <p:cNvSpPr/>
          <p:nvPr/>
        </p:nvSpPr>
        <p:spPr>
          <a:xfrm>
            <a:off x="960120" y="2743200"/>
            <a:ext cx="128016" cy="502920"/>
          </a:xfrm>
          <a:prstGeom prst="rect">
            <a:avLst/>
          </a:prstGeom>
          <a:solidFill>
            <a:srgbClr val="E1E1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1124712" y="2743200"/>
            <a:ext cx="128016" cy="502920"/>
          </a:xfrm>
          <a:prstGeom prst="rect">
            <a:avLst/>
          </a:prstGeom>
          <a:solidFill>
            <a:srgbClr val="D2D2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289304" y="2743200"/>
            <a:ext cx="128016" cy="502920"/>
          </a:xfrm>
          <a:prstGeom prst="rect">
            <a:avLst/>
          </a:prstGeom>
          <a:solidFill>
            <a:srgbClr val="C3C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1453896" y="2743200"/>
            <a:ext cx="128016" cy="502920"/>
          </a:xfrm>
          <a:prstGeom prst="rect">
            <a:avLst/>
          </a:prstGeom>
          <a:solidFill>
            <a:srgbClr val="B4B4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1618488" y="2743200"/>
            <a:ext cx="128016" cy="502920"/>
          </a:xfrm>
          <a:prstGeom prst="rect">
            <a:avLst/>
          </a:prstGeom>
          <a:solidFill>
            <a:srgbClr val="A5A5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1783080" y="2743200"/>
            <a:ext cx="128016" cy="502920"/>
          </a:xfrm>
          <a:prstGeom prst="rect">
            <a:avLst/>
          </a:prstGeom>
          <a:solidFill>
            <a:srgbClr val="9696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947672" y="2743200"/>
            <a:ext cx="128016" cy="502920"/>
          </a:xfrm>
          <a:prstGeom prst="rect">
            <a:avLst/>
          </a:prstGeom>
          <a:solidFill>
            <a:srgbClr val="8787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2112264" y="2743200"/>
            <a:ext cx="128016" cy="502920"/>
          </a:xfrm>
          <a:prstGeom prst="rect">
            <a:avLst/>
          </a:prstGeom>
          <a:solidFill>
            <a:srgbClr val="7878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2276856" y="2743200"/>
            <a:ext cx="128016" cy="502920"/>
          </a:xfrm>
          <a:prstGeom prst="rect">
            <a:avLst/>
          </a:prstGeom>
          <a:solidFill>
            <a:srgbClr val="6969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2441448" y="2743200"/>
            <a:ext cx="128016" cy="502920"/>
          </a:xfrm>
          <a:prstGeom prst="rect">
            <a:avLst/>
          </a:prstGeom>
          <a:solidFill>
            <a:srgbClr val="5A5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14400" y="3310128"/>
            <a:ext cx="2743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0">
                <a:solidFill>
                  <a:srgbClr val="69737D"/>
                </a:solidFill>
              </a:defRPr>
            </a:pPr>
            <a:r>
              <a:t>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31720" y="3310128"/>
            <a:ext cx="4572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0">
                <a:solidFill>
                  <a:srgbClr val="69737D"/>
                </a:solidFill>
              </a:defRPr>
            </a:pPr>
            <a:r>
              <a:t>255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2743200" y="2990088"/>
            <a:ext cx="1051560" cy="0"/>
          </a:xfrm>
          <a:prstGeom prst="line">
            <a:avLst/>
          </a:prstGeom>
          <a:ln w="25400">
            <a:solidFill>
              <a:srgbClr val="18969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2971800" y="2606040"/>
            <a:ext cx="6400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189691"/>
                </a:solidFill>
              </a:defRPr>
            </a:pPr>
            <a:r>
              <a:t>÷ 255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977639" y="2331720"/>
            <a:ext cx="13258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69737D"/>
                </a:solidFill>
              </a:defRPr>
            </a:pPr>
            <a:r>
              <a:t>NORMALIZED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977639" y="2743200"/>
            <a:ext cx="128016" cy="502920"/>
          </a:xfrm>
          <a:prstGeom prst="rect">
            <a:avLst/>
          </a:prstGeom>
          <a:solidFill>
            <a:srgbClr val="EBF0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142231" y="2743200"/>
            <a:ext cx="128016" cy="502920"/>
          </a:xfrm>
          <a:prstGeom prst="rect">
            <a:avLst/>
          </a:prstGeom>
          <a:solidFill>
            <a:srgbClr val="E2E8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306824" y="2743200"/>
            <a:ext cx="128016" cy="502920"/>
          </a:xfrm>
          <a:prstGeom prst="rect">
            <a:avLst/>
          </a:prstGeom>
          <a:solidFill>
            <a:srgbClr val="D9E0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4471416" y="2743200"/>
            <a:ext cx="128016" cy="502920"/>
          </a:xfrm>
          <a:prstGeom prst="rect">
            <a:avLst/>
          </a:prstGeom>
          <a:solidFill>
            <a:srgbClr val="D0D8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4636007" y="2743200"/>
            <a:ext cx="128016" cy="502920"/>
          </a:xfrm>
          <a:prstGeom prst="rect">
            <a:avLst/>
          </a:prstGeom>
          <a:solidFill>
            <a:srgbClr val="C7D0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4800600" y="2743200"/>
            <a:ext cx="128016" cy="502920"/>
          </a:xfrm>
          <a:prstGeom prst="rect">
            <a:avLst/>
          </a:prstGeom>
          <a:solidFill>
            <a:srgbClr val="BEC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4965192" y="2743200"/>
            <a:ext cx="128016" cy="502920"/>
          </a:xfrm>
          <a:prstGeom prst="rect">
            <a:avLst/>
          </a:prstGeom>
          <a:solidFill>
            <a:srgbClr val="B5C0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5129783" y="2743200"/>
            <a:ext cx="128016" cy="502920"/>
          </a:xfrm>
          <a:prstGeom prst="rect">
            <a:avLst/>
          </a:prstGeom>
          <a:solidFill>
            <a:srgbClr val="ACB8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5294375" y="2743200"/>
            <a:ext cx="128016" cy="502920"/>
          </a:xfrm>
          <a:prstGeom prst="rect">
            <a:avLst/>
          </a:prstGeom>
          <a:solidFill>
            <a:srgbClr val="A3B0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5458968" y="2743200"/>
            <a:ext cx="128016" cy="502920"/>
          </a:xfrm>
          <a:prstGeom prst="rect">
            <a:avLst/>
          </a:prstGeom>
          <a:solidFill>
            <a:srgbClr val="9AA8B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3931920" y="3310128"/>
            <a:ext cx="2743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0">
                <a:solidFill>
                  <a:srgbClr val="69737D"/>
                </a:solidFill>
              </a:defRPr>
            </a:pPr>
            <a:r>
              <a:t>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40680" y="3310128"/>
            <a:ext cx="27432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0">
                <a:solidFill>
                  <a:srgbClr val="69737D"/>
                </a:solidFill>
              </a:defRPr>
            </a:pPr>
            <a:r>
              <a:t>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" y="3886200"/>
            <a:ext cx="22860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1">
                <a:solidFill>
                  <a:srgbClr val="69737D"/>
                </a:solidFill>
              </a:defRPr>
            </a:pPr>
            <a:r>
              <a:t>Sample image inspection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14400" y="4343400"/>
            <a:ext cx="868680" cy="1051560"/>
          </a:xfrm>
          <a:prstGeom prst="roundRect">
            <a:avLst/>
          </a:prstGeom>
          <a:solidFill>
            <a:srgbClr val="E6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14400" y="4407408"/>
            <a:ext cx="868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200" b="1">
                <a:solidFill>
                  <a:srgbClr val="182741"/>
                </a:solidFill>
              </a:defRPr>
            </a:pPr>
            <a:r>
              <a:t>2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1965960" y="4343400"/>
            <a:ext cx="868680" cy="1051560"/>
          </a:xfrm>
          <a:prstGeom prst="roundRect">
            <a:avLst/>
          </a:prstGeom>
          <a:solidFill>
            <a:srgbClr val="E6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1965960" y="4407408"/>
            <a:ext cx="868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200" b="1">
                <a:solidFill>
                  <a:srgbClr val="182741"/>
                </a:solidFill>
              </a:defRPr>
            </a:pPr>
            <a:r>
              <a:t>7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017520" y="4343400"/>
            <a:ext cx="868680" cy="1051560"/>
          </a:xfrm>
          <a:prstGeom prst="roundRect">
            <a:avLst/>
          </a:prstGeom>
          <a:solidFill>
            <a:srgbClr val="E6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3017520" y="4407408"/>
            <a:ext cx="868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200" b="1">
                <a:solidFill>
                  <a:srgbClr val="182741"/>
                </a:solidFill>
              </a:defRPr>
            </a:pPr>
            <a:r>
              <a:t>4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069079" y="4343400"/>
            <a:ext cx="868680" cy="1051560"/>
          </a:xfrm>
          <a:prstGeom prst="roundRect">
            <a:avLst/>
          </a:prstGeom>
          <a:solidFill>
            <a:srgbClr val="E6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069079" y="4407408"/>
            <a:ext cx="868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200" b="1">
                <a:solidFill>
                  <a:srgbClr val="182741"/>
                </a:solidFill>
              </a:defRPr>
            </a:pPr>
            <a:r>
              <a:t>9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5120640" y="4343400"/>
            <a:ext cx="868680" cy="1051560"/>
          </a:xfrm>
          <a:prstGeom prst="roundRect">
            <a:avLst/>
          </a:prstGeom>
          <a:solidFill>
            <a:srgbClr val="E6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120640" y="4407408"/>
            <a:ext cx="86868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200" b="1">
                <a:solidFill>
                  <a:srgbClr val="182741"/>
                </a:solidFill>
              </a:defRPr>
            </a:pPr>
            <a:r>
              <a:t>1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680960" y="1371600"/>
            <a:ext cx="384048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7955279" y="1627632"/>
            <a:ext cx="11887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189691"/>
                </a:solidFill>
              </a:defRPr>
            </a:pPr>
            <a:r>
              <a:t>CHECK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955279" y="2148840"/>
            <a:ext cx="301752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>
                <a:solidFill>
                  <a:srgbClr val="69737D"/>
                </a:solidFill>
              </a:defRPr>
            </a:pPr>
            <a:r>
              <a:t>Shape • labels • train/test split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680960" y="3108960"/>
            <a:ext cx="384048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7955279" y="3364992"/>
            <a:ext cx="14630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6E5CAA"/>
                </a:solidFill>
              </a:defRPr>
            </a:pPr>
            <a:r>
              <a:t>NORMALIZE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955279" y="3886200"/>
            <a:ext cx="301752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>
                <a:solidFill>
                  <a:srgbClr val="69737D"/>
                </a:solidFill>
              </a:defRPr>
            </a:pPr>
            <a:r>
              <a:t>Convert pixel range 0–255 → 0–1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7680960" y="4846320"/>
            <a:ext cx="38404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7955279" y="5102352"/>
            <a:ext cx="146304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1">
                <a:solidFill>
                  <a:srgbClr val="EB6F8C"/>
                </a:solidFill>
              </a:defRPr>
            </a:pPr>
            <a:r>
              <a:t>VISUALIZE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955279" y="5596128"/>
            <a:ext cx="30175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>
                <a:solidFill>
                  <a:srgbClr val="69737D"/>
                </a:solidFill>
              </a:defRPr>
            </a:pPr>
            <a:r>
              <a:t>Display images before modeling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8229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82741"/>
                </a:solidFill>
              </a:defRPr>
            </a:pPr>
            <a:r>
              <a:t>8. Machine Learning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841248"/>
            <a:ext cx="10515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69737D"/>
                </a:solidFill>
              </a:defRPr>
            </a:pPr>
            <a:r>
              <a:t>A simple baseline for multi-class handwritten digit recognition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28232"/>
            <a:ext cx="5486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00" b="1">
                <a:solidFill>
                  <a:srgbClr val="69737D"/>
                </a:solidFill>
              </a:defRPr>
            </a:pPr>
            <a:r>
              <a:t>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512064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960120" y="1691640"/>
            <a:ext cx="1965960" cy="347472"/>
          </a:xfrm>
          <a:prstGeom prst="roundRect">
            <a:avLst/>
          </a:prstGeom>
          <a:solidFill>
            <a:srgbClr val="18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1700784"/>
            <a:ext cx="196596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LOGISTIC REGRESSION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286000"/>
            <a:ext cx="402336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200" b="1">
                <a:solidFill>
                  <a:srgbClr val="182741"/>
                </a:solidFill>
              </a:defRPr>
            </a:pPr>
            <a:r>
              <a:t>Multi-class classifier</a:t>
            </a:r>
          </a:p>
        </p:txBody>
      </p:sp>
      <p:sp>
        <p:nvSpPr>
          <p:cNvPr id="11" name="Oval 10"/>
          <p:cNvSpPr/>
          <p:nvPr/>
        </p:nvSpPr>
        <p:spPr>
          <a:xfrm>
            <a:off x="1143000" y="2971800"/>
            <a:ext cx="201168" cy="201168"/>
          </a:xfrm>
          <a:prstGeom prst="ellipse">
            <a:avLst/>
          </a:prstGeom>
          <a:solidFill>
            <a:srgbClr val="E6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Oval 11"/>
          <p:cNvSpPr/>
          <p:nvPr/>
        </p:nvSpPr>
        <p:spPr>
          <a:xfrm>
            <a:off x="1143000" y="3282696"/>
            <a:ext cx="201168" cy="201168"/>
          </a:xfrm>
          <a:prstGeom prst="ellipse">
            <a:avLst/>
          </a:prstGeom>
          <a:solidFill>
            <a:srgbClr val="E6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1143000" y="3593592"/>
            <a:ext cx="201168" cy="201168"/>
          </a:xfrm>
          <a:prstGeom prst="ellipse">
            <a:avLst/>
          </a:prstGeom>
          <a:solidFill>
            <a:srgbClr val="E6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1143000" y="3904487"/>
            <a:ext cx="201168" cy="201168"/>
          </a:xfrm>
          <a:prstGeom prst="ellipse">
            <a:avLst/>
          </a:prstGeom>
          <a:solidFill>
            <a:srgbClr val="E6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1143000" y="4215384"/>
            <a:ext cx="201168" cy="201168"/>
          </a:xfrm>
          <a:prstGeom prst="ellipse">
            <a:avLst/>
          </a:prstGeom>
          <a:solidFill>
            <a:srgbClr val="E6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1143000" y="4526280"/>
            <a:ext cx="201168" cy="201168"/>
          </a:xfrm>
          <a:prstGeom prst="ellipse">
            <a:avLst/>
          </a:prstGeom>
          <a:solidFill>
            <a:srgbClr val="E6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1143000" y="4837176"/>
            <a:ext cx="201168" cy="201168"/>
          </a:xfrm>
          <a:prstGeom prst="ellipse">
            <a:avLst/>
          </a:prstGeom>
          <a:solidFill>
            <a:srgbClr val="E6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2560320" y="3337560"/>
            <a:ext cx="685800" cy="685800"/>
          </a:xfrm>
          <a:prstGeom prst="ellipse">
            <a:avLst/>
          </a:prstGeom>
          <a:solidFill>
            <a:srgbClr val="6E5C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560320" y="3557016"/>
            <a:ext cx="68580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ML</a:t>
            </a:r>
          </a:p>
        </p:txBody>
      </p:sp>
      <p:sp>
        <p:nvSpPr>
          <p:cNvPr id="20" name="Oval 19"/>
          <p:cNvSpPr/>
          <p:nvPr/>
        </p:nvSpPr>
        <p:spPr>
          <a:xfrm>
            <a:off x="3749039" y="2743200"/>
            <a:ext cx="256032" cy="256032"/>
          </a:xfrm>
          <a:prstGeom prst="ellipse">
            <a:avLst/>
          </a:prstGeom>
          <a:solidFill>
            <a:srgbClr val="18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749039" y="2788920"/>
            <a:ext cx="256032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00" b="1">
                <a:solidFill>
                  <a:srgbClr val="FFFFFF"/>
                </a:solidFill>
              </a:defRPr>
            </a:pPr>
            <a:r>
              <a:t>0</a:t>
            </a:r>
          </a:p>
        </p:txBody>
      </p:sp>
      <p:sp>
        <p:nvSpPr>
          <p:cNvPr id="22" name="Oval 21"/>
          <p:cNvSpPr/>
          <p:nvPr/>
        </p:nvSpPr>
        <p:spPr>
          <a:xfrm>
            <a:off x="4096511" y="2743200"/>
            <a:ext cx="256032" cy="256032"/>
          </a:xfrm>
          <a:prstGeom prst="ellipse">
            <a:avLst/>
          </a:prstGeom>
          <a:solidFill>
            <a:srgbClr val="18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096511" y="2788920"/>
            <a:ext cx="256032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24" name="Oval 23"/>
          <p:cNvSpPr/>
          <p:nvPr/>
        </p:nvSpPr>
        <p:spPr>
          <a:xfrm>
            <a:off x="4443983" y="2743200"/>
            <a:ext cx="256032" cy="256032"/>
          </a:xfrm>
          <a:prstGeom prst="ellipse">
            <a:avLst/>
          </a:prstGeom>
          <a:solidFill>
            <a:srgbClr val="18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443983" y="2788920"/>
            <a:ext cx="256032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26" name="Oval 25"/>
          <p:cNvSpPr/>
          <p:nvPr/>
        </p:nvSpPr>
        <p:spPr>
          <a:xfrm>
            <a:off x="4791456" y="2743200"/>
            <a:ext cx="256032" cy="256032"/>
          </a:xfrm>
          <a:prstGeom prst="ellipse">
            <a:avLst/>
          </a:prstGeom>
          <a:solidFill>
            <a:srgbClr val="18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791456" y="2788920"/>
            <a:ext cx="256032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28" name="Oval 27"/>
          <p:cNvSpPr/>
          <p:nvPr/>
        </p:nvSpPr>
        <p:spPr>
          <a:xfrm>
            <a:off x="5138927" y="2743200"/>
            <a:ext cx="256032" cy="256032"/>
          </a:xfrm>
          <a:prstGeom prst="ellipse">
            <a:avLst/>
          </a:prstGeom>
          <a:solidFill>
            <a:srgbClr val="18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138927" y="2788920"/>
            <a:ext cx="256032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30" name="Oval 29"/>
          <p:cNvSpPr/>
          <p:nvPr/>
        </p:nvSpPr>
        <p:spPr>
          <a:xfrm>
            <a:off x="3749039" y="3337560"/>
            <a:ext cx="256032" cy="256032"/>
          </a:xfrm>
          <a:prstGeom prst="ellipse">
            <a:avLst/>
          </a:prstGeom>
          <a:solidFill>
            <a:srgbClr val="18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749039" y="3383279"/>
            <a:ext cx="256032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32" name="Oval 31"/>
          <p:cNvSpPr/>
          <p:nvPr/>
        </p:nvSpPr>
        <p:spPr>
          <a:xfrm>
            <a:off x="4096511" y="3337560"/>
            <a:ext cx="256032" cy="256032"/>
          </a:xfrm>
          <a:prstGeom prst="ellipse">
            <a:avLst/>
          </a:prstGeom>
          <a:solidFill>
            <a:srgbClr val="18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096511" y="3383279"/>
            <a:ext cx="256032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34" name="Oval 33"/>
          <p:cNvSpPr/>
          <p:nvPr/>
        </p:nvSpPr>
        <p:spPr>
          <a:xfrm>
            <a:off x="4443983" y="3337560"/>
            <a:ext cx="256032" cy="256032"/>
          </a:xfrm>
          <a:prstGeom prst="ellipse">
            <a:avLst/>
          </a:prstGeom>
          <a:solidFill>
            <a:srgbClr val="EB6F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4443983" y="3383279"/>
            <a:ext cx="256032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00" b="1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36" name="Oval 35"/>
          <p:cNvSpPr/>
          <p:nvPr/>
        </p:nvSpPr>
        <p:spPr>
          <a:xfrm>
            <a:off x="4791456" y="3337560"/>
            <a:ext cx="256032" cy="256032"/>
          </a:xfrm>
          <a:prstGeom prst="ellipse">
            <a:avLst/>
          </a:prstGeom>
          <a:solidFill>
            <a:srgbClr val="18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4791456" y="3383279"/>
            <a:ext cx="256032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00" b="1">
                <a:solidFill>
                  <a:srgbClr val="FFFFFF"/>
                </a:solidFill>
              </a:defRPr>
            </a:pPr>
            <a:r>
              <a:t>8</a:t>
            </a:r>
          </a:p>
        </p:txBody>
      </p:sp>
      <p:sp>
        <p:nvSpPr>
          <p:cNvPr id="38" name="Oval 37"/>
          <p:cNvSpPr/>
          <p:nvPr/>
        </p:nvSpPr>
        <p:spPr>
          <a:xfrm>
            <a:off x="5138927" y="3337560"/>
            <a:ext cx="256032" cy="256032"/>
          </a:xfrm>
          <a:prstGeom prst="ellipse">
            <a:avLst/>
          </a:prstGeom>
          <a:solidFill>
            <a:srgbClr val="18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138927" y="3383279"/>
            <a:ext cx="256032" cy="14630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00" b="1">
                <a:solidFill>
                  <a:srgbClr val="FFFFFF"/>
                </a:solidFill>
              </a:defRPr>
            </a:pPr>
            <a:r>
              <a:t>9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1344168" y="3072384"/>
            <a:ext cx="1216152" cy="603503"/>
          </a:xfrm>
          <a:prstGeom prst="line">
            <a:avLst/>
          </a:prstGeom>
          <a:ln w="12700">
            <a:solidFill>
              <a:srgbClr val="6E5C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1344168" y="3383279"/>
            <a:ext cx="1216152" cy="292608"/>
          </a:xfrm>
          <a:prstGeom prst="line">
            <a:avLst/>
          </a:prstGeom>
          <a:ln w="12700">
            <a:solidFill>
              <a:srgbClr val="6E5C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V="1">
            <a:off x="1344168" y="3675887"/>
            <a:ext cx="1216152" cy="18289"/>
          </a:xfrm>
          <a:prstGeom prst="line">
            <a:avLst/>
          </a:prstGeom>
          <a:ln w="12700">
            <a:solidFill>
              <a:srgbClr val="6E5C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 flipV="1">
            <a:off x="1344168" y="3675887"/>
            <a:ext cx="1216152" cy="329185"/>
          </a:xfrm>
          <a:prstGeom prst="line">
            <a:avLst/>
          </a:prstGeom>
          <a:ln w="12700">
            <a:solidFill>
              <a:srgbClr val="6E5C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V="1">
            <a:off x="1344168" y="3675887"/>
            <a:ext cx="1216152" cy="640081"/>
          </a:xfrm>
          <a:prstGeom prst="line">
            <a:avLst/>
          </a:prstGeom>
          <a:ln w="12700">
            <a:solidFill>
              <a:srgbClr val="6E5C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 flipV="1">
            <a:off x="1344168" y="3675887"/>
            <a:ext cx="1216152" cy="950977"/>
          </a:xfrm>
          <a:prstGeom prst="line">
            <a:avLst/>
          </a:prstGeom>
          <a:ln w="12700">
            <a:solidFill>
              <a:srgbClr val="6E5C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1344168" y="3675887"/>
            <a:ext cx="1216152" cy="1261873"/>
          </a:xfrm>
          <a:prstGeom prst="line">
            <a:avLst/>
          </a:prstGeom>
          <a:ln w="12700">
            <a:solidFill>
              <a:srgbClr val="6E5C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960120" y="5074920"/>
            <a:ext cx="42976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>
                <a:solidFill>
                  <a:srgbClr val="69737D"/>
                </a:solidFill>
              </a:defRPr>
            </a:pPr>
            <a:r>
              <a:t>Input: 784 pixel features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60120" y="5486400"/>
            <a:ext cx="429768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>
                <a:solidFill>
                  <a:srgbClr val="69737D"/>
                </a:solidFill>
              </a:defRPr>
            </a:pPr>
            <a:r>
              <a:t>Output: 10 digit classes (0–9)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126480" y="1417320"/>
            <a:ext cx="534924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6446520" y="1737360"/>
            <a:ext cx="27432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182741"/>
                </a:solidFill>
              </a:defRPr>
            </a:pPr>
            <a:r>
              <a:t>WHY THIS MODEL?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446520" y="2331720"/>
            <a:ext cx="448056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2D3741"/>
                </a:solidFill>
              </a:defRPr>
            </a:pPr>
            <a:r>
              <a:t>• Simple supervised learning baseline</a:t>
            </a:r>
          </a:p>
          <a:p>
            <a:pPr>
              <a:spcAft>
                <a:spcPts val="1000"/>
              </a:spcAft>
              <a:defRPr sz="1400">
                <a:solidFill>
                  <a:srgbClr val="2D3741"/>
                </a:solidFill>
              </a:defRPr>
            </a:pPr>
            <a:r>
              <a:t>• Handles multi-class classification</a:t>
            </a:r>
          </a:p>
          <a:p>
            <a:pPr>
              <a:spcAft>
                <a:spcPts val="1000"/>
              </a:spcAft>
              <a:defRPr sz="1400">
                <a:solidFill>
                  <a:srgbClr val="2D3741"/>
                </a:solidFill>
              </a:defRPr>
            </a:pPr>
            <a:r>
              <a:t>• Easy to train and evaluate</a:t>
            </a:r>
          </a:p>
          <a:p>
            <a:pPr>
              <a:spcAft>
                <a:spcPts val="1000"/>
              </a:spcAft>
              <a:defRPr sz="1400">
                <a:solidFill>
                  <a:srgbClr val="2D3741"/>
                </a:solidFill>
              </a:defRPr>
            </a:pPr>
            <a:r>
              <a:t>• Works directly with flattened pixel features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46520" y="4892040"/>
            <a:ext cx="10972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300" b="1">
                <a:solidFill>
                  <a:srgbClr val="189691"/>
                </a:solidFill>
              </a:defRPr>
            </a:pPr>
            <a:r>
              <a:t>Training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452360" y="4864608"/>
            <a:ext cx="35204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>
                <a:solidFill>
                  <a:srgbClr val="69737D"/>
                </a:solidFill>
              </a:defRPr>
            </a:pPr>
            <a:r>
              <a:t>Images + labels → learned decision boundaries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320040"/>
            <a:ext cx="822960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182741"/>
                </a:solidFill>
              </a:defRPr>
            </a:pPr>
            <a:r>
              <a:t>9. Results &amp; Evaluation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8" y="841248"/>
            <a:ext cx="105156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69737D"/>
                </a:solidFill>
              </a:defRPr>
            </a:pPr>
            <a:r>
              <a:t>Measure how accurately the model recognizes unseen digits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28232"/>
            <a:ext cx="548640" cy="228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>
              <a:defRPr sz="1000" b="1">
                <a:solidFill>
                  <a:srgbClr val="69737D"/>
                </a:solidFill>
              </a:defRPr>
            </a:pPr>
            <a: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17320"/>
            <a:ext cx="365760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783080"/>
            <a:ext cx="306324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400" b="1">
                <a:solidFill>
                  <a:srgbClr val="182741"/>
                </a:solidFill>
              </a:defRPr>
            </a:pPr>
            <a:r>
              <a:t>MODEL ACCURACY</a:t>
            </a:r>
          </a:p>
        </p:txBody>
      </p:sp>
      <p:sp>
        <p:nvSpPr>
          <p:cNvPr id="9" name="Oval 8"/>
          <p:cNvSpPr/>
          <p:nvPr/>
        </p:nvSpPr>
        <p:spPr>
          <a:xfrm>
            <a:off x="1325880" y="2423160"/>
            <a:ext cx="2377440" cy="2377440"/>
          </a:xfrm>
          <a:prstGeom prst="ellipse">
            <a:avLst/>
          </a:prstGeom>
          <a:solidFill>
            <a:srgbClr val="E6F1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1645920" y="2743200"/>
            <a:ext cx="1737360" cy="1737360"/>
          </a:xfrm>
          <a:prstGeom prst="ellipse">
            <a:avLst/>
          </a:prstGeom>
          <a:solidFill>
            <a:srgbClr val="18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645920" y="3193149"/>
            <a:ext cx="1737360" cy="55399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rPr lang="en-US" dirty="0" smtClean="0"/>
              <a:t>98.5</a:t>
            </a:r>
            <a:r>
              <a:rPr dirty="0" smtClean="0"/>
              <a:t>%</a:t>
            </a:r>
            <a:endParaRPr dirty="0"/>
          </a:p>
        </p:txBody>
      </p:sp>
      <p:sp>
        <p:nvSpPr>
          <p:cNvPr id="13" name="Rounded Rectangle 12"/>
          <p:cNvSpPr/>
          <p:nvPr/>
        </p:nvSpPr>
        <p:spPr>
          <a:xfrm>
            <a:off x="4617720" y="1417320"/>
            <a:ext cx="685800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DAE1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937760" y="1719072"/>
            <a:ext cx="347472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1">
                <a:solidFill>
                  <a:srgbClr val="182741"/>
                </a:solidFill>
              </a:defRPr>
            </a:pPr>
            <a:r>
              <a:t>CONFUSION MATRIX — 10 DIGITS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166360" y="2423160"/>
            <a:ext cx="384048" cy="228600"/>
          </a:xfrm>
          <a:prstGeom prst="rect">
            <a:avLst/>
          </a:prstGeom>
          <a:solidFill>
            <a:srgbClr val="18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641848" y="2423160"/>
            <a:ext cx="384048" cy="228600"/>
          </a:xfrm>
          <a:prstGeom prst="rect">
            <a:avLst/>
          </a:prstGeom>
          <a:solidFill>
            <a:srgbClr val="CD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117336" y="2423160"/>
            <a:ext cx="384048" cy="22860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6592824" y="2423160"/>
            <a:ext cx="384048" cy="22860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068312" y="2423160"/>
            <a:ext cx="384048" cy="22860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543800" y="2423160"/>
            <a:ext cx="384048" cy="22860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8019288" y="2423160"/>
            <a:ext cx="384048" cy="22860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8494776" y="2423160"/>
            <a:ext cx="384048" cy="22860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8970264" y="2423160"/>
            <a:ext cx="384048" cy="22860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445752" y="2423160"/>
            <a:ext cx="384048" cy="22860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5166360" y="2715768"/>
            <a:ext cx="384048" cy="228600"/>
          </a:xfrm>
          <a:prstGeom prst="rect">
            <a:avLst/>
          </a:prstGeom>
          <a:solidFill>
            <a:srgbClr val="CD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5641848" y="2715768"/>
            <a:ext cx="384048" cy="228600"/>
          </a:xfrm>
          <a:prstGeom prst="rect">
            <a:avLst/>
          </a:prstGeom>
          <a:solidFill>
            <a:srgbClr val="18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117336" y="2715768"/>
            <a:ext cx="384048" cy="228600"/>
          </a:xfrm>
          <a:prstGeom prst="rect">
            <a:avLst/>
          </a:prstGeom>
          <a:solidFill>
            <a:srgbClr val="CD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592824" y="2715768"/>
            <a:ext cx="384048" cy="22860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7068312" y="2715768"/>
            <a:ext cx="384048" cy="22860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7543800" y="2715768"/>
            <a:ext cx="384048" cy="22860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8019288" y="2715768"/>
            <a:ext cx="384048" cy="22860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8494776" y="2715768"/>
            <a:ext cx="384048" cy="22860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8970264" y="2715768"/>
            <a:ext cx="384048" cy="22860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9445752" y="2715768"/>
            <a:ext cx="384048" cy="22860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5166360" y="3008376"/>
            <a:ext cx="384048" cy="22860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Rectangle 35"/>
          <p:cNvSpPr/>
          <p:nvPr/>
        </p:nvSpPr>
        <p:spPr>
          <a:xfrm>
            <a:off x="5641848" y="3008376"/>
            <a:ext cx="384048" cy="228600"/>
          </a:xfrm>
          <a:prstGeom prst="rect">
            <a:avLst/>
          </a:prstGeom>
          <a:solidFill>
            <a:srgbClr val="CD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6117336" y="3008376"/>
            <a:ext cx="384048" cy="228600"/>
          </a:xfrm>
          <a:prstGeom prst="rect">
            <a:avLst/>
          </a:prstGeom>
          <a:solidFill>
            <a:srgbClr val="18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Rectangle 37"/>
          <p:cNvSpPr/>
          <p:nvPr/>
        </p:nvSpPr>
        <p:spPr>
          <a:xfrm>
            <a:off x="6592824" y="3008376"/>
            <a:ext cx="384048" cy="228600"/>
          </a:xfrm>
          <a:prstGeom prst="rect">
            <a:avLst/>
          </a:prstGeom>
          <a:solidFill>
            <a:srgbClr val="CD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7068312" y="3008376"/>
            <a:ext cx="384048" cy="22860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7543800" y="3008376"/>
            <a:ext cx="384048" cy="22860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8019288" y="3008376"/>
            <a:ext cx="384048" cy="22860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Rectangle 41"/>
          <p:cNvSpPr/>
          <p:nvPr/>
        </p:nvSpPr>
        <p:spPr>
          <a:xfrm>
            <a:off x="8494776" y="3008376"/>
            <a:ext cx="384048" cy="22860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8970264" y="3008376"/>
            <a:ext cx="384048" cy="22860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9445752" y="3008376"/>
            <a:ext cx="384048" cy="22860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Rectangle 44"/>
          <p:cNvSpPr/>
          <p:nvPr/>
        </p:nvSpPr>
        <p:spPr>
          <a:xfrm>
            <a:off x="5166360" y="3300984"/>
            <a:ext cx="384048" cy="22860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Rectangle 45"/>
          <p:cNvSpPr/>
          <p:nvPr/>
        </p:nvSpPr>
        <p:spPr>
          <a:xfrm>
            <a:off x="5641848" y="3300984"/>
            <a:ext cx="384048" cy="22860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6117336" y="3300984"/>
            <a:ext cx="384048" cy="228600"/>
          </a:xfrm>
          <a:prstGeom prst="rect">
            <a:avLst/>
          </a:prstGeom>
          <a:solidFill>
            <a:srgbClr val="CD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Rectangle 47"/>
          <p:cNvSpPr/>
          <p:nvPr/>
        </p:nvSpPr>
        <p:spPr>
          <a:xfrm>
            <a:off x="6592824" y="3300984"/>
            <a:ext cx="384048" cy="228600"/>
          </a:xfrm>
          <a:prstGeom prst="rect">
            <a:avLst/>
          </a:prstGeom>
          <a:solidFill>
            <a:srgbClr val="18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Rectangle 48"/>
          <p:cNvSpPr/>
          <p:nvPr/>
        </p:nvSpPr>
        <p:spPr>
          <a:xfrm>
            <a:off x="7068312" y="3300984"/>
            <a:ext cx="384048" cy="228600"/>
          </a:xfrm>
          <a:prstGeom prst="rect">
            <a:avLst/>
          </a:prstGeom>
          <a:solidFill>
            <a:srgbClr val="CD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Rectangle 49"/>
          <p:cNvSpPr/>
          <p:nvPr/>
        </p:nvSpPr>
        <p:spPr>
          <a:xfrm>
            <a:off x="7543800" y="3300984"/>
            <a:ext cx="384048" cy="22860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8019288" y="3300984"/>
            <a:ext cx="384048" cy="22860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Rectangle 51"/>
          <p:cNvSpPr/>
          <p:nvPr/>
        </p:nvSpPr>
        <p:spPr>
          <a:xfrm>
            <a:off x="8494776" y="3300984"/>
            <a:ext cx="384048" cy="22860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Rectangle 52"/>
          <p:cNvSpPr/>
          <p:nvPr/>
        </p:nvSpPr>
        <p:spPr>
          <a:xfrm>
            <a:off x="8970264" y="3300984"/>
            <a:ext cx="384048" cy="22860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Rectangle 53"/>
          <p:cNvSpPr/>
          <p:nvPr/>
        </p:nvSpPr>
        <p:spPr>
          <a:xfrm>
            <a:off x="9445752" y="3300984"/>
            <a:ext cx="384048" cy="22860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5166360" y="3593591"/>
            <a:ext cx="384048" cy="22860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Rectangle 55"/>
          <p:cNvSpPr/>
          <p:nvPr/>
        </p:nvSpPr>
        <p:spPr>
          <a:xfrm>
            <a:off x="5641848" y="3593591"/>
            <a:ext cx="384048" cy="22860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Rectangle 56"/>
          <p:cNvSpPr/>
          <p:nvPr/>
        </p:nvSpPr>
        <p:spPr>
          <a:xfrm>
            <a:off x="6117336" y="3593591"/>
            <a:ext cx="384048" cy="22860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Rectangle 57"/>
          <p:cNvSpPr/>
          <p:nvPr/>
        </p:nvSpPr>
        <p:spPr>
          <a:xfrm>
            <a:off x="6592824" y="3593591"/>
            <a:ext cx="384048" cy="228600"/>
          </a:xfrm>
          <a:prstGeom prst="rect">
            <a:avLst/>
          </a:prstGeom>
          <a:solidFill>
            <a:srgbClr val="CD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7068312" y="3593591"/>
            <a:ext cx="384048" cy="228600"/>
          </a:xfrm>
          <a:prstGeom prst="rect">
            <a:avLst/>
          </a:prstGeom>
          <a:solidFill>
            <a:srgbClr val="18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Rectangle 59"/>
          <p:cNvSpPr/>
          <p:nvPr/>
        </p:nvSpPr>
        <p:spPr>
          <a:xfrm>
            <a:off x="7543800" y="3593591"/>
            <a:ext cx="384048" cy="228600"/>
          </a:xfrm>
          <a:prstGeom prst="rect">
            <a:avLst/>
          </a:prstGeom>
          <a:solidFill>
            <a:srgbClr val="CD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Rectangle 60"/>
          <p:cNvSpPr/>
          <p:nvPr/>
        </p:nvSpPr>
        <p:spPr>
          <a:xfrm>
            <a:off x="8019288" y="3593591"/>
            <a:ext cx="384048" cy="22860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Rectangle 61"/>
          <p:cNvSpPr/>
          <p:nvPr/>
        </p:nvSpPr>
        <p:spPr>
          <a:xfrm>
            <a:off x="8494776" y="3593591"/>
            <a:ext cx="384048" cy="22860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8970264" y="3593591"/>
            <a:ext cx="384048" cy="22860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Rectangle 63"/>
          <p:cNvSpPr/>
          <p:nvPr/>
        </p:nvSpPr>
        <p:spPr>
          <a:xfrm>
            <a:off x="9445752" y="3593591"/>
            <a:ext cx="384048" cy="22860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Rectangle 64"/>
          <p:cNvSpPr/>
          <p:nvPr/>
        </p:nvSpPr>
        <p:spPr>
          <a:xfrm>
            <a:off x="5166360" y="3886200"/>
            <a:ext cx="384048" cy="22860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Rectangle 65"/>
          <p:cNvSpPr/>
          <p:nvPr/>
        </p:nvSpPr>
        <p:spPr>
          <a:xfrm>
            <a:off x="5641848" y="3886200"/>
            <a:ext cx="384048" cy="22860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Rectangle 66"/>
          <p:cNvSpPr/>
          <p:nvPr/>
        </p:nvSpPr>
        <p:spPr>
          <a:xfrm>
            <a:off x="6117336" y="3886200"/>
            <a:ext cx="384048" cy="22860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Rectangle 67"/>
          <p:cNvSpPr/>
          <p:nvPr/>
        </p:nvSpPr>
        <p:spPr>
          <a:xfrm>
            <a:off x="6592824" y="3886200"/>
            <a:ext cx="384048" cy="22860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Rectangle 68"/>
          <p:cNvSpPr/>
          <p:nvPr/>
        </p:nvSpPr>
        <p:spPr>
          <a:xfrm>
            <a:off x="7068312" y="3886200"/>
            <a:ext cx="384048" cy="228600"/>
          </a:xfrm>
          <a:prstGeom prst="rect">
            <a:avLst/>
          </a:prstGeom>
          <a:solidFill>
            <a:srgbClr val="CD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Rectangle 69"/>
          <p:cNvSpPr/>
          <p:nvPr/>
        </p:nvSpPr>
        <p:spPr>
          <a:xfrm>
            <a:off x="7543800" y="3886200"/>
            <a:ext cx="384048" cy="228600"/>
          </a:xfrm>
          <a:prstGeom prst="rect">
            <a:avLst/>
          </a:prstGeom>
          <a:solidFill>
            <a:srgbClr val="18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Rectangle 70"/>
          <p:cNvSpPr/>
          <p:nvPr/>
        </p:nvSpPr>
        <p:spPr>
          <a:xfrm>
            <a:off x="8019288" y="3886200"/>
            <a:ext cx="384048" cy="228600"/>
          </a:xfrm>
          <a:prstGeom prst="rect">
            <a:avLst/>
          </a:prstGeom>
          <a:solidFill>
            <a:srgbClr val="CD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Rectangle 71"/>
          <p:cNvSpPr/>
          <p:nvPr/>
        </p:nvSpPr>
        <p:spPr>
          <a:xfrm>
            <a:off x="8494776" y="3886200"/>
            <a:ext cx="384048" cy="22860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Rectangle 72"/>
          <p:cNvSpPr/>
          <p:nvPr/>
        </p:nvSpPr>
        <p:spPr>
          <a:xfrm>
            <a:off x="8970264" y="3886200"/>
            <a:ext cx="384048" cy="22860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Rectangle 73"/>
          <p:cNvSpPr/>
          <p:nvPr/>
        </p:nvSpPr>
        <p:spPr>
          <a:xfrm>
            <a:off x="9445752" y="3886200"/>
            <a:ext cx="384048" cy="22860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Rectangle 74"/>
          <p:cNvSpPr/>
          <p:nvPr/>
        </p:nvSpPr>
        <p:spPr>
          <a:xfrm>
            <a:off x="5166360" y="4178808"/>
            <a:ext cx="384048" cy="22860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Rectangle 75"/>
          <p:cNvSpPr/>
          <p:nvPr/>
        </p:nvSpPr>
        <p:spPr>
          <a:xfrm>
            <a:off x="5641848" y="4178808"/>
            <a:ext cx="384048" cy="22860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Rectangle 76"/>
          <p:cNvSpPr/>
          <p:nvPr/>
        </p:nvSpPr>
        <p:spPr>
          <a:xfrm>
            <a:off x="6117336" y="4178808"/>
            <a:ext cx="384048" cy="22860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Rectangle 77"/>
          <p:cNvSpPr/>
          <p:nvPr/>
        </p:nvSpPr>
        <p:spPr>
          <a:xfrm>
            <a:off x="6592824" y="4178808"/>
            <a:ext cx="384048" cy="22860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Rectangle 78"/>
          <p:cNvSpPr/>
          <p:nvPr/>
        </p:nvSpPr>
        <p:spPr>
          <a:xfrm>
            <a:off x="7068312" y="4178808"/>
            <a:ext cx="384048" cy="22860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Rectangle 79"/>
          <p:cNvSpPr/>
          <p:nvPr/>
        </p:nvSpPr>
        <p:spPr>
          <a:xfrm>
            <a:off x="7543800" y="4178808"/>
            <a:ext cx="384048" cy="228600"/>
          </a:xfrm>
          <a:prstGeom prst="rect">
            <a:avLst/>
          </a:prstGeom>
          <a:solidFill>
            <a:srgbClr val="CD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Rectangle 80"/>
          <p:cNvSpPr/>
          <p:nvPr/>
        </p:nvSpPr>
        <p:spPr>
          <a:xfrm>
            <a:off x="8019288" y="4178808"/>
            <a:ext cx="384048" cy="228600"/>
          </a:xfrm>
          <a:prstGeom prst="rect">
            <a:avLst/>
          </a:prstGeom>
          <a:solidFill>
            <a:srgbClr val="18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Rectangle 81"/>
          <p:cNvSpPr/>
          <p:nvPr/>
        </p:nvSpPr>
        <p:spPr>
          <a:xfrm>
            <a:off x="8494776" y="4178808"/>
            <a:ext cx="384048" cy="228600"/>
          </a:xfrm>
          <a:prstGeom prst="rect">
            <a:avLst/>
          </a:prstGeom>
          <a:solidFill>
            <a:srgbClr val="CD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Rectangle 82"/>
          <p:cNvSpPr/>
          <p:nvPr/>
        </p:nvSpPr>
        <p:spPr>
          <a:xfrm>
            <a:off x="8970264" y="4178808"/>
            <a:ext cx="384048" cy="22860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Rectangle 83"/>
          <p:cNvSpPr/>
          <p:nvPr/>
        </p:nvSpPr>
        <p:spPr>
          <a:xfrm>
            <a:off x="9445752" y="4178808"/>
            <a:ext cx="384048" cy="22860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Rectangle 84"/>
          <p:cNvSpPr/>
          <p:nvPr/>
        </p:nvSpPr>
        <p:spPr>
          <a:xfrm>
            <a:off x="5166360" y="4471416"/>
            <a:ext cx="384048" cy="22860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Rectangle 85"/>
          <p:cNvSpPr/>
          <p:nvPr/>
        </p:nvSpPr>
        <p:spPr>
          <a:xfrm>
            <a:off x="5641848" y="4471416"/>
            <a:ext cx="384048" cy="22860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Rectangle 86"/>
          <p:cNvSpPr/>
          <p:nvPr/>
        </p:nvSpPr>
        <p:spPr>
          <a:xfrm>
            <a:off x="6117336" y="4471416"/>
            <a:ext cx="384048" cy="22860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Rectangle 87"/>
          <p:cNvSpPr/>
          <p:nvPr/>
        </p:nvSpPr>
        <p:spPr>
          <a:xfrm>
            <a:off x="6592824" y="4471416"/>
            <a:ext cx="384048" cy="22860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Rectangle 88"/>
          <p:cNvSpPr/>
          <p:nvPr/>
        </p:nvSpPr>
        <p:spPr>
          <a:xfrm>
            <a:off x="7068312" y="4471416"/>
            <a:ext cx="384048" cy="22860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Rectangle 89"/>
          <p:cNvSpPr/>
          <p:nvPr/>
        </p:nvSpPr>
        <p:spPr>
          <a:xfrm>
            <a:off x="7543800" y="4471416"/>
            <a:ext cx="384048" cy="22860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Rectangle 90"/>
          <p:cNvSpPr/>
          <p:nvPr/>
        </p:nvSpPr>
        <p:spPr>
          <a:xfrm>
            <a:off x="8019288" y="4471416"/>
            <a:ext cx="384048" cy="228600"/>
          </a:xfrm>
          <a:prstGeom prst="rect">
            <a:avLst/>
          </a:prstGeom>
          <a:solidFill>
            <a:srgbClr val="CD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Rectangle 91"/>
          <p:cNvSpPr/>
          <p:nvPr/>
        </p:nvSpPr>
        <p:spPr>
          <a:xfrm>
            <a:off x="8494776" y="4471416"/>
            <a:ext cx="384048" cy="228600"/>
          </a:xfrm>
          <a:prstGeom prst="rect">
            <a:avLst/>
          </a:prstGeom>
          <a:solidFill>
            <a:srgbClr val="18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Rectangle 92"/>
          <p:cNvSpPr/>
          <p:nvPr/>
        </p:nvSpPr>
        <p:spPr>
          <a:xfrm>
            <a:off x="8970264" y="4471416"/>
            <a:ext cx="384048" cy="228600"/>
          </a:xfrm>
          <a:prstGeom prst="rect">
            <a:avLst/>
          </a:prstGeom>
          <a:solidFill>
            <a:srgbClr val="CD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Rectangle 93"/>
          <p:cNvSpPr/>
          <p:nvPr/>
        </p:nvSpPr>
        <p:spPr>
          <a:xfrm>
            <a:off x="9445752" y="4471416"/>
            <a:ext cx="384048" cy="22860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Rectangle 94"/>
          <p:cNvSpPr/>
          <p:nvPr/>
        </p:nvSpPr>
        <p:spPr>
          <a:xfrm>
            <a:off x="5166360" y="4764024"/>
            <a:ext cx="384048" cy="22860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Rectangle 95"/>
          <p:cNvSpPr/>
          <p:nvPr/>
        </p:nvSpPr>
        <p:spPr>
          <a:xfrm>
            <a:off x="5641848" y="4764024"/>
            <a:ext cx="384048" cy="22860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Rectangle 96"/>
          <p:cNvSpPr/>
          <p:nvPr/>
        </p:nvSpPr>
        <p:spPr>
          <a:xfrm>
            <a:off x="6117336" y="4764024"/>
            <a:ext cx="384048" cy="22860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Rectangle 97"/>
          <p:cNvSpPr/>
          <p:nvPr/>
        </p:nvSpPr>
        <p:spPr>
          <a:xfrm>
            <a:off x="6592824" y="4764024"/>
            <a:ext cx="384048" cy="22860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Rectangle 98"/>
          <p:cNvSpPr/>
          <p:nvPr/>
        </p:nvSpPr>
        <p:spPr>
          <a:xfrm>
            <a:off x="7068312" y="4764024"/>
            <a:ext cx="384048" cy="22860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Rectangle 99"/>
          <p:cNvSpPr/>
          <p:nvPr/>
        </p:nvSpPr>
        <p:spPr>
          <a:xfrm>
            <a:off x="7543800" y="4764024"/>
            <a:ext cx="384048" cy="22860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Rectangle 100"/>
          <p:cNvSpPr/>
          <p:nvPr/>
        </p:nvSpPr>
        <p:spPr>
          <a:xfrm>
            <a:off x="8019288" y="4764024"/>
            <a:ext cx="384048" cy="22860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Rectangle 101"/>
          <p:cNvSpPr/>
          <p:nvPr/>
        </p:nvSpPr>
        <p:spPr>
          <a:xfrm>
            <a:off x="8494776" y="4764024"/>
            <a:ext cx="384048" cy="228600"/>
          </a:xfrm>
          <a:prstGeom prst="rect">
            <a:avLst/>
          </a:prstGeom>
          <a:solidFill>
            <a:srgbClr val="CD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Rectangle 102"/>
          <p:cNvSpPr/>
          <p:nvPr/>
        </p:nvSpPr>
        <p:spPr>
          <a:xfrm>
            <a:off x="8970264" y="4764024"/>
            <a:ext cx="384048" cy="228600"/>
          </a:xfrm>
          <a:prstGeom prst="rect">
            <a:avLst/>
          </a:prstGeom>
          <a:solidFill>
            <a:srgbClr val="18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Rectangle 103"/>
          <p:cNvSpPr/>
          <p:nvPr/>
        </p:nvSpPr>
        <p:spPr>
          <a:xfrm>
            <a:off x="9445752" y="4764024"/>
            <a:ext cx="384048" cy="228600"/>
          </a:xfrm>
          <a:prstGeom prst="rect">
            <a:avLst/>
          </a:prstGeom>
          <a:solidFill>
            <a:srgbClr val="CD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Rectangle 104"/>
          <p:cNvSpPr/>
          <p:nvPr/>
        </p:nvSpPr>
        <p:spPr>
          <a:xfrm>
            <a:off x="5166360" y="5056631"/>
            <a:ext cx="384048" cy="22860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Rectangle 105"/>
          <p:cNvSpPr/>
          <p:nvPr/>
        </p:nvSpPr>
        <p:spPr>
          <a:xfrm>
            <a:off x="5641848" y="5056631"/>
            <a:ext cx="384048" cy="22860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Rectangle 106"/>
          <p:cNvSpPr/>
          <p:nvPr/>
        </p:nvSpPr>
        <p:spPr>
          <a:xfrm>
            <a:off x="6117336" y="5056631"/>
            <a:ext cx="384048" cy="22860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Rectangle 107"/>
          <p:cNvSpPr/>
          <p:nvPr/>
        </p:nvSpPr>
        <p:spPr>
          <a:xfrm>
            <a:off x="6592824" y="5056631"/>
            <a:ext cx="384048" cy="22860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Rectangle 108"/>
          <p:cNvSpPr/>
          <p:nvPr/>
        </p:nvSpPr>
        <p:spPr>
          <a:xfrm>
            <a:off x="7068312" y="5056631"/>
            <a:ext cx="384048" cy="22860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Rectangle 109"/>
          <p:cNvSpPr/>
          <p:nvPr/>
        </p:nvSpPr>
        <p:spPr>
          <a:xfrm>
            <a:off x="7543800" y="5056631"/>
            <a:ext cx="384048" cy="22860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Rectangle 110"/>
          <p:cNvSpPr/>
          <p:nvPr/>
        </p:nvSpPr>
        <p:spPr>
          <a:xfrm>
            <a:off x="8019288" y="5056631"/>
            <a:ext cx="384048" cy="22860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Rectangle 111"/>
          <p:cNvSpPr/>
          <p:nvPr/>
        </p:nvSpPr>
        <p:spPr>
          <a:xfrm>
            <a:off x="8494776" y="5056631"/>
            <a:ext cx="384048" cy="228600"/>
          </a:xfrm>
          <a:prstGeom prst="rect">
            <a:avLst/>
          </a:prstGeom>
          <a:solidFill>
            <a:srgbClr val="F2F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Rectangle 112"/>
          <p:cNvSpPr/>
          <p:nvPr/>
        </p:nvSpPr>
        <p:spPr>
          <a:xfrm>
            <a:off x="8970264" y="5056631"/>
            <a:ext cx="384048" cy="228600"/>
          </a:xfrm>
          <a:prstGeom prst="rect">
            <a:avLst/>
          </a:prstGeom>
          <a:solidFill>
            <a:srgbClr val="CD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Rectangle 113"/>
          <p:cNvSpPr/>
          <p:nvPr/>
        </p:nvSpPr>
        <p:spPr>
          <a:xfrm>
            <a:off x="9445752" y="5056631"/>
            <a:ext cx="384048" cy="228600"/>
          </a:xfrm>
          <a:prstGeom prst="rect">
            <a:avLst/>
          </a:prstGeom>
          <a:solidFill>
            <a:srgbClr val="18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TextBox 114"/>
          <p:cNvSpPr txBox="1"/>
          <p:nvPr/>
        </p:nvSpPr>
        <p:spPr>
          <a:xfrm>
            <a:off x="5166360" y="5486400"/>
            <a:ext cx="73152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69737D"/>
                </a:solidFill>
              </a:defRPr>
            </a:pPr>
            <a:r>
              <a:t>Actual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8961120" y="5486400"/>
            <a:ext cx="137160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000" b="1">
                <a:solidFill>
                  <a:srgbClr val="69737D"/>
                </a:solidFill>
              </a:defRPr>
            </a:pPr>
            <a:r>
              <a:t>Predicted →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4937760" y="5742432"/>
            <a:ext cx="3840480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100" b="0">
                <a:solidFill>
                  <a:srgbClr val="69737D"/>
                </a:solidFill>
              </a:defRPr>
            </a:pPr>
            <a:r>
              <a:t>Diagonal cells = correct predictions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27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8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640080" y="502920"/>
            <a:ext cx="822960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900" b="1">
                <a:solidFill>
                  <a:srgbClr val="FFFFFF"/>
                </a:solidFill>
              </a:defRPr>
            </a:pPr>
            <a:r>
              <a:t>10. Conclusion &amp; Future Scope</a:t>
            </a:r>
          </a:p>
        </p:txBody>
      </p:sp>
      <p:sp>
        <p:nvSpPr>
          <p:cNvPr id="5" name="Oval 4"/>
          <p:cNvSpPr/>
          <p:nvPr/>
        </p:nvSpPr>
        <p:spPr>
          <a:xfrm>
            <a:off x="4892040" y="1417320"/>
            <a:ext cx="2423160" cy="2423160"/>
          </a:xfrm>
          <a:prstGeom prst="ellipse">
            <a:avLst/>
          </a:prstGeom>
          <a:solidFill>
            <a:srgbClr val="1896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892040" y="1810512"/>
            <a:ext cx="2423160" cy="1645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IMAGE</a:t>
            </a:r>
            <a:br/>
            <a:r>
              <a:t>→</a:t>
            </a:r>
            <a:br/>
            <a:r>
              <a:t>MODEL</a:t>
            </a:r>
            <a:br/>
            <a:r>
              <a:t>→</a:t>
            </a:r>
            <a:br/>
            <a:r>
              <a:t>DIGIT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508760"/>
            <a:ext cx="3474720" cy="3520440"/>
          </a:xfrm>
          <a:prstGeom prst="roundRect">
            <a:avLst/>
          </a:prstGeom>
          <a:solidFill>
            <a:srgbClr val="2237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60120" y="1810512"/>
            <a:ext cx="24688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BEE1E1"/>
                </a:solidFill>
              </a:defRPr>
            </a:pPr>
            <a:r>
              <a:t>CONCLUSION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3975" y="2386584"/>
            <a:ext cx="2743200" cy="15491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2D3741"/>
                </a:solidFill>
              </a:defRPr>
            </a:pPr>
            <a:r>
              <a:rPr dirty="0">
                <a:solidFill>
                  <a:schemeClr val="tx2">
                    <a:lumMod val="20000"/>
                    <a:lumOff val="80000"/>
                  </a:schemeClr>
                </a:solidFill>
              </a:rPr>
              <a:t>• Complete image classification workflow</a:t>
            </a:r>
          </a:p>
          <a:p>
            <a:pPr>
              <a:spcAft>
                <a:spcPts val="1000"/>
              </a:spcAft>
              <a:defRPr sz="1300">
                <a:solidFill>
                  <a:srgbClr val="2D3741"/>
                </a:solidFill>
              </a:defRPr>
            </a:pPr>
            <a:r>
              <a:rPr dirty="0">
                <a:solidFill>
                  <a:schemeClr val="tx2">
                    <a:lumMod val="20000"/>
                    <a:lumOff val="80000"/>
                  </a:schemeClr>
                </a:solidFill>
              </a:rPr>
              <a:t>• MNIST provides 10 handwritten digit classes</a:t>
            </a:r>
          </a:p>
          <a:p>
            <a:pPr>
              <a:spcAft>
                <a:spcPts val="1000"/>
              </a:spcAft>
              <a:defRPr sz="1300">
                <a:solidFill>
                  <a:srgbClr val="2D3741"/>
                </a:solidFill>
              </a:defRPr>
            </a:pPr>
            <a:r>
              <a:rPr dirty="0">
                <a:solidFill>
                  <a:schemeClr val="tx2">
                    <a:lumMod val="20000"/>
                    <a:lumOff val="80000"/>
                  </a:schemeClr>
                </a:solidFill>
              </a:rPr>
              <a:t>• Model performance is evaluated on unseen data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01000" y="1508760"/>
            <a:ext cx="3474720" cy="3520440"/>
          </a:xfrm>
          <a:prstGeom prst="roundRect">
            <a:avLst/>
          </a:prstGeom>
          <a:solidFill>
            <a:srgbClr val="2237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275320" y="1810512"/>
            <a:ext cx="246888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1">
                <a:solidFill>
                  <a:srgbClr val="BEE1E1"/>
                </a:solidFill>
              </a:defRPr>
            </a:pPr>
            <a:r>
              <a:t>FUTURE SCOPE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2331720"/>
            <a:ext cx="2743200" cy="154914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2D3741"/>
                </a:solidFill>
              </a:defRPr>
            </a:pPr>
            <a:r>
              <a:rPr dirty="0">
                <a:solidFill>
                  <a:schemeClr val="tx2">
                    <a:lumMod val="20000"/>
                    <a:lumOff val="80000"/>
                  </a:schemeClr>
                </a:solidFill>
              </a:rPr>
              <a:t>• Try CNN for stronger image recognition</a:t>
            </a:r>
          </a:p>
          <a:p>
            <a:pPr>
              <a:spcAft>
                <a:spcPts val="1000"/>
              </a:spcAft>
              <a:defRPr sz="1300">
                <a:solidFill>
                  <a:srgbClr val="2D3741"/>
                </a:solidFill>
              </a:defRPr>
            </a:pPr>
            <a:r>
              <a:rPr dirty="0">
                <a:solidFill>
                  <a:schemeClr val="tx2">
                    <a:lumMod val="20000"/>
                    <a:lumOff val="80000"/>
                  </a:schemeClr>
                </a:solidFill>
              </a:rPr>
              <a:t>• </a:t>
            </a:r>
            <a:r>
              <a:rPr dirty="0" smtClean="0">
                <a:solidFill>
                  <a:schemeClr val="tx2">
                    <a:lumMod val="20000"/>
                    <a:lumOff val="80000"/>
                  </a:schemeClr>
                </a:solidFill>
              </a:rPr>
              <a:t>Hyper</a:t>
            </a:r>
            <a:r>
              <a:rPr lang="en-US" dirty="0" smtClean="0">
                <a:solidFill>
                  <a:schemeClr val="tx2">
                    <a:lumMod val="20000"/>
                    <a:lumOff val="80000"/>
                  </a:schemeClr>
                </a:solidFill>
              </a:rPr>
              <a:t> </a:t>
            </a:r>
            <a:r>
              <a:rPr dirty="0" smtClean="0">
                <a:solidFill>
                  <a:schemeClr val="tx2">
                    <a:lumMod val="20000"/>
                    <a:lumOff val="80000"/>
                  </a:schemeClr>
                </a:solidFill>
              </a:rPr>
              <a:t>parameter </a:t>
            </a:r>
            <a:r>
              <a:rPr dirty="0">
                <a:solidFill>
                  <a:schemeClr val="tx2">
                    <a:lumMod val="20000"/>
                    <a:lumOff val="80000"/>
                  </a:schemeClr>
                </a:solidFill>
              </a:rPr>
              <a:t>tuning and cross-validation</a:t>
            </a:r>
          </a:p>
          <a:p>
            <a:pPr>
              <a:spcAft>
                <a:spcPts val="1000"/>
              </a:spcAft>
              <a:defRPr sz="1300">
                <a:solidFill>
                  <a:srgbClr val="2D3741"/>
                </a:solidFill>
              </a:defRPr>
            </a:pPr>
            <a:r>
              <a:rPr dirty="0">
                <a:solidFill>
                  <a:schemeClr val="tx2">
                    <a:lumMod val="20000"/>
                    <a:lumOff val="80000"/>
                  </a:schemeClr>
                </a:solidFill>
              </a:rPr>
              <a:t>• Build a simple web/app digit recognizer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6240" y="5166360"/>
            <a:ext cx="38404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479</Words>
  <Application>Microsoft Office PowerPoint</Application>
  <PresentationFormat>Widescreen</PresentationFormat>
  <Paragraphs>205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Alfiya Inamdar</dc:creator>
  <cp:keywords/>
  <dc:description>generated using python-pptx</dc:description>
  <cp:lastModifiedBy>Alfiya Inamdar</cp:lastModifiedBy>
  <cp:revision>4</cp:revision>
  <dcterms:created xsi:type="dcterms:W3CDTF">2013-01-27T09:14:16Z</dcterms:created>
  <dcterms:modified xsi:type="dcterms:W3CDTF">2026-09-27T08:28:57Z</dcterms:modified>
  <cp:category/>
</cp:coreProperties>
</file>