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5852160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</a:defRPr>
            </a:pPr>
            <a:r>
              <a:t>MNIST</a:t>
            </a:r>
            <a:br/>
            <a:r>
              <a:t>DIGIT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633472"/>
            <a:ext cx="5394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BEE1E1"/>
                </a:solidFill>
              </a:defRPr>
            </a:pPr>
            <a:r>
              <a:t>Handwritten digit recognition using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3493008"/>
            <a:ext cx="1143000" cy="347472"/>
          </a:xfrm>
          <a:prstGeom prst="round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3502151"/>
            <a:ext cx="1143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PYTHON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493008"/>
            <a:ext cx="1874519" cy="347472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1680" y="3502151"/>
            <a:ext cx="18745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MACHINE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1648" y="3493008"/>
            <a:ext cx="1783080" cy="347472"/>
          </a:xfrm>
          <a:prstGeom prst="round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41648" y="3502151"/>
            <a:ext cx="1783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COMPUTER VISION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914400"/>
            <a:ext cx="4251960" cy="4251960"/>
          </a:xfrm>
          <a:prstGeom prst="roundRect">
            <a:avLst/>
          </a:prstGeom>
          <a:solidFill>
            <a:srgbClr val="22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138159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66175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94192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22208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50224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778240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906255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034272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62288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90304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418319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546336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674352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802367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30384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058400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186416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314432" y="192938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138159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266175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394192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522208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650224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778240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906255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034272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9162288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290304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418319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546336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674352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802367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9930384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0058400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0186416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314432" y="205740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138159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66175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394192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522208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650224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778240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906255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9034272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162288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9290304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9418319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546336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674352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802367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930384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0058400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0186416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0314432" y="218541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38159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8266175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8394192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8522208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8650224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8778240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8906255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9034272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9162288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9290304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9418319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9546336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9674352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9802367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9930384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0058400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10186416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0314432" y="231343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9802367" y="244144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9930384" y="244144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10058400" y="244144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0186416" y="244144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10314432" y="244144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9802367" y="256946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9930384" y="256946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0058400" y="256946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10186416" y="256946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10314432" y="256946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9802367" y="269748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9930384" y="269748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0058400" y="269748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0186416" y="269748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0314432" y="269748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9802367" y="282549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9930384" y="282549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10058400" y="282549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10186416" y="282549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10314432" y="282549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9802367" y="295351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9930384" y="295351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0058400" y="295351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10186416" y="295351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10314432" y="295351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9802367" y="308152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9930384" y="308152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10058400" y="308152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10186416" y="308152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10314432" y="308152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9802367" y="320954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9930384" y="320954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10058400" y="320954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0186416" y="320954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0314432" y="320954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9802367" y="333756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9930384" y="333756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10058400" y="333756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0186416" y="333756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10314432" y="333756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9802367" y="346557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9930384" y="346557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0058400" y="346557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0186416" y="346557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0314432" y="346557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9802367" y="359359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9930384" y="359359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10058400" y="359359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10186416" y="359359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0314432" y="359359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9802367" y="372160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9930384" y="372160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0058400" y="372160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10186416" y="372160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10314432" y="3721608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9802367" y="384962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9930384" y="384962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10058400" y="384962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10186416" y="384962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10314432" y="3849624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9802367" y="397764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9930384" y="397764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10058400" y="397764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10186416" y="397764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10314432" y="3977640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9802367" y="410565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9930384" y="410565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10058400" y="410565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10186416" y="410565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Oval 153"/>
          <p:cNvSpPr/>
          <p:nvPr/>
        </p:nvSpPr>
        <p:spPr>
          <a:xfrm>
            <a:off x="10314432" y="4105656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9802367" y="423367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Oval 155"/>
          <p:cNvSpPr/>
          <p:nvPr/>
        </p:nvSpPr>
        <p:spPr>
          <a:xfrm>
            <a:off x="9930384" y="423367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10058400" y="423367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Oval 157"/>
          <p:cNvSpPr/>
          <p:nvPr/>
        </p:nvSpPr>
        <p:spPr>
          <a:xfrm>
            <a:off x="10186416" y="423367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10314432" y="4233672"/>
            <a:ext cx="82296" cy="82296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8366760" y="2240280"/>
            <a:ext cx="1508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223760" y="5440680"/>
            <a:ext cx="37947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0">
                <a:solidFill>
                  <a:srgbClr val="C8DCE6"/>
                </a:solidFill>
              </a:defRPr>
            </a:pPr>
            <a:r>
              <a:t>28 × 28 pixels  •  784 features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58952" y="5669280"/>
            <a:ext cx="6858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D2DCE6"/>
                </a:solidFill>
              </a:defRPr>
            </a:pPr>
            <a:r>
              <a:t>Internship Project • Professional Presentation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58952" y="6089904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AFBECD"/>
                </a:solidFill>
              </a:defRPr>
            </a:pPr>
            <a:r>
              <a:t>Educational machine learning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1.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Teaching a model to recognize handwritten digits from pixel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960120" cy="347472"/>
          </a:xfrm>
          <a:prstGeom prst="round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26464"/>
            <a:ext cx="960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27432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51560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97863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44168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490472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636776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783080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929384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075688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221991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68296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514600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60904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807208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53512" y="224028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51560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97863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44168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490472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636776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783080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929384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075688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221991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68296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514600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660904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807208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953512" y="238658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51560" y="253288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197863" y="253288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344168" y="253288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490472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636776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783080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929384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075688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221991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368296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514600" y="253288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660904" y="253288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807208" y="253288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953512" y="253288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051560" y="267919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197863" y="267919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344168" y="267919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490472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636776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783080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929384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2075688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221991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368296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2514600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2660904" y="267919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2807208" y="267919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2953512" y="267919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1051560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1197863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344168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490472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636776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783080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1929384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075688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221991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2368296" y="2825496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514600" y="2825496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2660904" y="2825496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2807208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2953512" y="282549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1051560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1197863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1344168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1490472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1636776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1783080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1929384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2075688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2221991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2368296" y="2971800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2514600" y="2971800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660904" y="2971800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2807208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2953512" y="297180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1051560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1197863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1344168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1490472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636776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1783080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929384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2075688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2221991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2368296" y="3118104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2514600" y="3118104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2660904" y="3118104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807208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2953512" y="311810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051560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1197863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344168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1490472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1636776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1783080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1929384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2075688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2221991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2368296" y="326440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2514600" y="326440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2660904" y="3264408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2807208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2953512" y="326440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1051560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1197863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1344168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1490472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1636776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1783080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1929384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2075688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221991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2368296" y="341071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2514600" y="341071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2660904" y="3410712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2807208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2953512" y="341071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051560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197863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344168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490472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1636776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783080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1929384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2075688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2221991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368296" y="3557016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2514600" y="3557016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2660904" y="3557016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807208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953512" y="3557016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1051560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1197863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1344168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1490472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1636776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1783080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1929384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2075688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2221991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2368296" y="3703320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2514600" y="3703320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2660904" y="3703320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2807208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2953512" y="3703320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1051560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1197863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1344168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1490472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1636776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1783080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1929384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2075688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2221991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2368296" y="3849624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2514600" y="3849624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2660904" y="3849624"/>
            <a:ext cx="118872" cy="11887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2807208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2953512" y="3849624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1051560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1197863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1344168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1490472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1636776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1783080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1929384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2075688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2221991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2368296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2514600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2660904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2807208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2953512" y="3995928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1051560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1197863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1344168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1490472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1636776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1783080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1929384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2075688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2221991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2368296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2514600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2660904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2807208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2953512" y="4142232"/>
            <a:ext cx="118872" cy="11887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1143000" y="4526280"/>
            <a:ext cx="1645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82741"/>
                </a:solidFill>
              </a:defRPr>
            </a:pPr>
            <a:r>
              <a:t>28 × 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4400" y="489204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69737D"/>
                </a:solidFill>
              </a:defRPr>
            </a:pPr>
            <a:r>
              <a:t>handwritten digit image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3429000" y="3566160"/>
            <a:ext cx="1188720" cy="0"/>
          </a:xfrm>
          <a:prstGeom prst="line">
            <a:avLst/>
          </a:prstGeom>
          <a:ln w="381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TextBox 208"/>
          <p:cNvSpPr txBox="1"/>
          <p:nvPr/>
        </p:nvSpPr>
        <p:spPr>
          <a:xfrm>
            <a:off x="3913632" y="3218688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189691"/>
                </a:solidFill>
              </a:defRPr>
            </a:pPr>
            <a:r>
              <a:t>→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709160" y="1417320"/>
            <a:ext cx="1234440" cy="347472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4709160" y="1426464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ML MODEL</a:t>
            </a:r>
          </a:p>
        </p:txBody>
      </p:sp>
      <p:sp>
        <p:nvSpPr>
          <p:cNvPr id="212" name="Oval 211"/>
          <p:cNvSpPr/>
          <p:nvPr/>
        </p:nvSpPr>
        <p:spPr>
          <a:xfrm>
            <a:off x="4709160" y="2057400"/>
            <a:ext cx="2331720" cy="233172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4709160" y="2697480"/>
            <a:ext cx="2331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784</a:t>
            </a:r>
            <a:br/>
            <a:r>
              <a:t>PIXELS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828032" y="4617720"/>
            <a:ext cx="2057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69737D"/>
                </a:solidFill>
              </a:defRPr>
            </a:pPr>
            <a:r>
              <a:t>learn patterns</a:t>
            </a:r>
          </a:p>
        </p:txBody>
      </p:sp>
      <p:cxnSp>
        <p:nvCxnSpPr>
          <p:cNvPr id="215" name="Connector 214"/>
          <p:cNvCxnSpPr/>
          <p:nvPr/>
        </p:nvCxnSpPr>
        <p:spPr>
          <a:xfrm>
            <a:off x="7040880" y="3566160"/>
            <a:ext cx="1142999" cy="0"/>
          </a:xfrm>
          <a:prstGeom prst="line">
            <a:avLst/>
          </a:prstGeom>
          <a:ln w="381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Box 215"/>
          <p:cNvSpPr txBox="1"/>
          <p:nvPr/>
        </p:nvSpPr>
        <p:spPr>
          <a:xfrm>
            <a:off x="7479792" y="3218688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189691"/>
                </a:solidFill>
              </a:defRPr>
            </a:pPr>
            <a:r>
              <a:t>→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8275320" y="1417320"/>
            <a:ext cx="1005840" cy="347472"/>
          </a:xfrm>
          <a:prstGeom prst="round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TextBox 217"/>
          <p:cNvSpPr txBox="1"/>
          <p:nvPr/>
        </p:nvSpPr>
        <p:spPr>
          <a:xfrm>
            <a:off x="8275320" y="1426464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OUTPUT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8138160" y="1874519"/>
            <a:ext cx="31546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Oval 219"/>
          <p:cNvSpPr/>
          <p:nvPr/>
        </p:nvSpPr>
        <p:spPr>
          <a:xfrm>
            <a:off x="8458200" y="237744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8458200" y="244144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0</a:t>
            </a:r>
          </a:p>
        </p:txBody>
      </p:sp>
      <p:sp>
        <p:nvSpPr>
          <p:cNvPr id="222" name="Oval 221"/>
          <p:cNvSpPr/>
          <p:nvPr/>
        </p:nvSpPr>
        <p:spPr>
          <a:xfrm>
            <a:off x="8988552" y="237744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8988552" y="244144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1</a:t>
            </a:r>
          </a:p>
        </p:txBody>
      </p:sp>
      <p:sp>
        <p:nvSpPr>
          <p:cNvPr id="224" name="Oval 223"/>
          <p:cNvSpPr/>
          <p:nvPr/>
        </p:nvSpPr>
        <p:spPr>
          <a:xfrm>
            <a:off x="9518904" y="237744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9518904" y="244144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2</a:t>
            </a:r>
          </a:p>
        </p:txBody>
      </p:sp>
      <p:sp>
        <p:nvSpPr>
          <p:cNvPr id="226" name="Oval 225"/>
          <p:cNvSpPr/>
          <p:nvPr/>
        </p:nvSpPr>
        <p:spPr>
          <a:xfrm>
            <a:off x="10049256" y="237744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10049256" y="244144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3</a:t>
            </a:r>
          </a:p>
        </p:txBody>
      </p:sp>
      <p:sp>
        <p:nvSpPr>
          <p:cNvPr id="228" name="Oval 227"/>
          <p:cNvSpPr/>
          <p:nvPr/>
        </p:nvSpPr>
        <p:spPr>
          <a:xfrm>
            <a:off x="10579608" y="237744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10579608" y="244144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4</a:t>
            </a:r>
          </a:p>
        </p:txBody>
      </p:sp>
      <p:sp>
        <p:nvSpPr>
          <p:cNvPr id="230" name="Oval 229"/>
          <p:cNvSpPr/>
          <p:nvPr/>
        </p:nvSpPr>
        <p:spPr>
          <a:xfrm>
            <a:off x="8458200" y="333756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8458200" y="340156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5</a:t>
            </a:r>
          </a:p>
        </p:txBody>
      </p:sp>
      <p:sp>
        <p:nvSpPr>
          <p:cNvPr id="232" name="Oval 231"/>
          <p:cNvSpPr/>
          <p:nvPr/>
        </p:nvSpPr>
        <p:spPr>
          <a:xfrm>
            <a:off x="8988552" y="333756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8988552" y="340156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6</a:t>
            </a:r>
          </a:p>
        </p:txBody>
      </p:sp>
      <p:sp>
        <p:nvSpPr>
          <p:cNvPr id="234" name="Oval 233"/>
          <p:cNvSpPr/>
          <p:nvPr/>
        </p:nvSpPr>
        <p:spPr>
          <a:xfrm>
            <a:off x="9518904" y="3337560"/>
            <a:ext cx="411480" cy="41148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234"/>
          <p:cNvSpPr txBox="1"/>
          <p:nvPr/>
        </p:nvSpPr>
        <p:spPr>
          <a:xfrm>
            <a:off x="9518904" y="340156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36" name="Oval 235"/>
          <p:cNvSpPr/>
          <p:nvPr/>
        </p:nvSpPr>
        <p:spPr>
          <a:xfrm>
            <a:off x="10049256" y="333756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10049256" y="340156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8</a:t>
            </a:r>
          </a:p>
        </p:txBody>
      </p:sp>
      <p:sp>
        <p:nvSpPr>
          <p:cNvPr id="238" name="Oval 237"/>
          <p:cNvSpPr/>
          <p:nvPr/>
        </p:nvSpPr>
        <p:spPr>
          <a:xfrm>
            <a:off x="10579608" y="3337560"/>
            <a:ext cx="411480" cy="411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10579608" y="3401568"/>
            <a:ext cx="4114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182741"/>
                </a:solidFill>
              </a:defRPr>
            </a:pPr>
            <a:r>
              <a:t>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21040" y="4526280"/>
            <a:ext cx="2788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69737D"/>
                </a:solidFill>
              </a:defRPr>
            </a:pPr>
            <a:r>
              <a:t>Predict one of 10 classes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2.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Convert a 28×28 handwritten image into a digit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6576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19072"/>
            <a:ext cx="2926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89691"/>
                </a:solidFill>
              </a:defRPr>
            </a:pPr>
            <a:r>
              <a:t>HANDWRITTEN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2004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0" b="1">
                <a:solidFill>
                  <a:srgbClr val="182741"/>
                </a:solidFill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69737D"/>
                </a:solidFill>
              </a:defRPr>
            </a:pPr>
            <a:r>
              <a:t>Pixel values: 0 → 255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43400" y="3566160"/>
            <a:ext cx="1280160" cy="0"/>
          </a:xfrm>
          <a:prstGeom prst="line">
            <a:avLst/>
          </a:prstGeom>
          <a:ln w="381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54880" y="32004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189691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417320"/>
            <a:ext cx="2743200" cy="452628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1737360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6E5CAA"/>
                </a:solidFill>
              </a:defRPr>
            </a:pPr>
            <a:r>
              <a:t>FEATURE VECTOR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331720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17920" y="2331720"/>
            <a:ext cx="4572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79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17920" y="2697479"/>
            <a:ext cx="6858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17920" y="3063239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17920" y="3063239"/>
            <a:ext cx="9144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17920" y="3429000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17920" y="3429000"/>
            <a:ext cx="11430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17920" y="3794760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17920" y="3794760"/>
            <a:ext cx="4572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217920" y="4160520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217920" y="4160520"/>
            <a:ext cx="6858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217920" y="4526280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217920" y="4526280"/>
            <a:ext cx="9144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17920" y="4892040"/>
            <a:ext cx="1645920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17920" y="4892040"/>
            <a:ext cx="1143000" cy="228600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89320" y="5257800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69737D"/>
                </a:solidFill>
              </a:defRPr>
            </a:pPr>
            <a:r>
              <a:t>784 numerical inputs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0" y="3566160"/>
            <a:ext cx="960120" cy="0"/>
          </a:xfrm>
          <a:prstGeom prst="line">
            <a:avLst/>
          </a:prstGeom>
          <a:ln w="381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59952" y="32004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189691"/>
                </a:solidFill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18320" y="1417320"/>
            <a:ext cx="21031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46920" y="1737360"/>
            <a:ext cx="1645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EB6F8C"/>
                </a:solidFill>
              </a:defRPr>
            </a:pPr>
            <a:r>
              <a:t>PREDICTION</a:t>
            </a:r>
          </a:p>
        </p:txBody>
      </p:sp>
      <p:sp>
        <p:nvSpPr>
          <p:cNvPr id="36" name="Oval 35"/>
          <p:cNvSpPr/>
          <p:nvPr/>
        </p:nvSpPr>
        <p:spPr>
          <a:xfrm>
            <a:off x="9893808" y="2514600"/>
            <a:ext cx="1143000" cy="1143000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893808" y="2743200"/>
            <a:ext cx="1143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4069080"/>
            <a:ext cx="1645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82741"/>
                </a:solidFill>
              </a:defRPr>
            </a:pPr>
            <a:r>
              <a:t>One of</a:t>
            </a:r>
            <a:br/>
            <a:r>
              <a:t>0–9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3.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Project goals in a visual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0120" y="1673352"/>
            <a:ext cx="594360" cy="5943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73936"/>
            <a:ext cx="5943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164592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16712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MNIST dataset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1732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09159" y="1673352"/>
            <a:ext cx="594360" cy="59436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59" y="1773936"/>
            <a:ext cx="5943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164592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216712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View sample digits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1732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58200" y="1673352"/>
            <a:ext cx="594360" cy="594360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1773936"/>
            <a:ext cx="5943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164592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Prepare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216712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Normalize pixels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5760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0120" y="3913632"/>
            <a:ext cx="594360" cy="594360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014215"/>
            <a:ext cx="5943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19072" y="3886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19072" y="440740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Build classifier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365760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709159" y="3913632"/>
            <a:ext cx="594360" cy="594360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9159" y="4014215"/>
            <a:ext cx="5943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3886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440740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Measure accuracy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365760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458200" y="3913632"/>
            <a:ext cx="594360" cy="594360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4014215"/>
            <a:ext cx="59436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7152" y="3886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Predict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7152" y="440740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Recognize new digits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4. Dataset &amp; Image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MNIST handwritten digit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3246120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73152" cy="470916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2788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7889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70,000 labeled images</a:t>
            </a:r>
            <a:br/>
            <a:r>
              <a:t>60,000 training + 10,000 test</a:t>
            </a:r>
            <a:br/>
            <a:r>
              <a:t>10 digit classes: 0–9</a:t>
            </a:r>
            <a:br/>
            <a:r>
              <a:t/>
            </a:r>
            <a:br/>
            <a:r>
              <a:t>Each image: 28 × 28 pixels</a:t>
            </a:r>
            <a:br/>
            <a:r>
              <a:t>784 pixel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8132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82741"/>
                </a:solidFill>
              </a:defRPr>
            </a:pPr>
            <a:r>
              <a:t>SAMPLE DIGITS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05740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213055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189691"/>
                </a:solidFill>
              </a:defRPr>
            </a:pPr>
            <a: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05272" y="205740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05272" y="213055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6E5CAA"/>
                </a:solidFill>
              </a:defRPr>
            </a:pPr>
            <a: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58584" y="205740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58584" y="213055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F5A64B"/>
                </a:solidFill>
              </a:defRPr>
            </a:pPr>
            <a: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11896" y="205740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1896" y="213055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EB6F8C"/>
                </a:solidFill>
              </a:defRPr>
            </a:pPr>
            <a: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65208" y="205740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65208" y="213055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46A56E"/>
                </a:solidFill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356616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51960" y="363931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189691"/>
                </a:solidFill>
              </a:defRPr>
            </a:pPr>
            <a: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5272" y="356616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05272" y="363931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6E5CAA"/>
                </a:solidFill>
              </a:defRPr>
            </a:pPr>
            <a: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58584" y="356616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58584" y="363931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F5A64B"/>
                </a:solidFill>
              </a:defRPr>
            </a:pPr>
            <a:r>
              <a:t>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11896" y="356616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11896" y="363931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EB6F8C"/>
                </a:solidFill>
              </a:defRPr>
            </a:pPr>
            <a: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65208" y="3566160"/>
            <a:ext cx="1097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65208" y="3639312"/>
            <a:ext cx="1097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46A56E"/>
                </a:solidFill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394960"/>
            <a:ext cx="6492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0">
                <a:solidFill>
                  <a:srgbClr val="69737D"/>
                </a:solidFill>
              </a:defRPr>
            </a:pPr>
            <a:r>
              <a:t>Each image is converted into numerical pixel values for model training.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5. Technologies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Technology stack used for the MNIST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1673352"/>
            <a:ext cx="658368" cy="658368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Programming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703320" y="1673352"/>
            <a:ext cx="658368" cy="65836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182880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NumPy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Pixel arrays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92240" y="1673352"/>
            <a:ext cx="658368" cy="658368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Image display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281159" y="1673352"/>
            <a:ext cx="658368" cy="658368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59" y="182880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399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Scikit-learn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399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ML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4400" y="3913632"/>
            <a:ext cx="658368" cy="658368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06908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Jupyter / Colab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Notebook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703320" y="3913632"/>
            <a:ext cx="658368" cy="658368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703320" y="406908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Pandas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Data handling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492240" y="3913632"/>
            <a:ext cx="658368" cy="658368"/>
          </a:xfrm>
          <a:prstGeom prst="ellipse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406908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79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GitHub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Version control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59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281159" y="3913632"/>
            <a:ext cx="658368" cy="65836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281159" y="4069080"/>
            <a:ext cx="65836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399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Joblib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399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Model saving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6. Methodology /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From raw pixels to predicted digit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MNIST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08960" y="230428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7472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657600" y="1783080"/>
            <a:ext cx="566928" cy="56692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0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Visualize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Samples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9320" y="230428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37960" y="1783080"/>
            <a:ext cx="566928" cy="566928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Normalize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0–1 pixels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69680" y="230428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3544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418319" y="1783080"/>
            <a:ext cx="566928" cy="566928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18319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Split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Train / Test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77240" y="4023359"/>
            <a:ext cx="566928" cy="566928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Classifier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08960" y="454456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47472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657600" y="4023359"/>
            <a:ext cx="566928" cy="566928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0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Predict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Digits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989320" y="454456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35508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537960" y="4023359"/>
            <a:ext cx="566928" cy="56692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37960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Evaluate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Accuracy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869680" y="454456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23544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418319" y="4023359"/>
            <a:ext cx="566928" cy="566928"/>
          </a:xfrm>
          <a:prstGeom prst="ellipse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18319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Save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Notebook + README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1384280" y="2304288"/>
            <a:ext cx="0" cy="1444751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7. Data Preprocessing &amp;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Pixel normalization and visual inspection of handwritten samples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6720840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64208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82741"/>
                </a:solidFill>
              </a:defRPr>
            </a:pPr>
            <a:r>
              <a:t>PIXEL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69737D"/>
                </a:solidFill>
              </a:defRPr>
            </a:pPr>
            <a:r>
              <a:t>RAW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2743200"/>
            <a:ext cx="128016" cy="502920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24712" y="2743200"/>
            <a:ext cx="128016" cy="502920"/>
          </a:xfrm>
          <a:prstGeom prst="rect">
            <a:avLst/>
          </a:prstGeom>
          <a:solidFill>
            <a:srgbClr val="D2D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89304" y="2743200"/>
            <a:ext cx="128016" cy="502920"/>
          </a:xfrm>
          <a:prstGeom prst="rect">
            <a:avLst/>
          </a:prstGeom>
          <a:solidFill>
            <a:srgbClr val="C3C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453896" y="2743200"/>
            <a:ext cx="128016" cy="502920"/>
          </a:xfrm>
          <a:prstGeom prst="rect">
            <a:avLst/>
          </a:prstGeom>
          <a:solidFill>
            <a:srgbClr val="B4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618488" y="2743200"/>
            <a:ext cx="128016" cy="502920"/>
          </a:xfrm>
          <a:prstGeom prst="rect">
            <a:avLst/>
          </a:prstGeom>
          <a:solidFill>
            <a:srgbClr val="A5A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783080" y="2743200"/>
            <a:ext cx="128016" cy="502920"/>
          </a:xfrm>
          <a:prstGeom prst="rect">
            <a:avLst/>
          </a:prstGeom>
          <a:solidFill>
            <a:srgbClr val="969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947672" y="2743200"/>
            <a:ext cx="128016" cy="502920"/>
          </a:xfrm>
          <a:prstGeom prst="rect">
            <a:avLst/>
          </a:prstGeom>
          <a:solidFill>
            <a:srgbClr val="878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12264" y="2743200"/>
            <a:ext cx="128016" cy="502920"/>
          </a:xfrm>
          <a:prstGeom prst="rect">
            <a:avLst/>
          </a:prstGeom>
          <a:solidFill>
            <a:srgbClr val="787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276856" y="2743200"/>
            <a:ext cx="128016" cy="502920"/>
          </a:xfrm>
          <a:prstGeom prst="rect">
            <a:avLst/>
          </a:prstGeom>
          <a:solidFill>
            <a:srgbClr val="696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441448" y="2743200"/>
            <a:ext cx="128016" cy="502920"/>
          </a:xfrm>
          <a:prstGeom prst="rect">
            <a:avLst/>
          </a:prstGeom>
          <a:solidFill>
            <a:srgbClr val="5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310128"/>
            <a:ext cx="274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9737D"/>
                </a:solidFill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310128"/>
            <a:ext cx="457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9737D"/>
                </a:solidFill>
              </a:defRPr>
            </a:pPr>
            <a:r>
              <a:t>255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743200" y="2990088"/>
            <a:ext cx="1051560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71800" y="2606040"/>
            <a:ext cx="640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89691"/>
                </a:solidFill>
              </a:defRPr>
            </a:pPr>
            <a:r>
              <a:t>÷ 255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2331720"/>
            <a:ext cx="1325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69737D"/>
                </a:solidFill>
              </a:defRPr>
            </a:pPr>
            <a:r>
              <a:t>NORMALIZED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39" y="2743200"/>
            <a:ext cx="128016" cy="502920"/>
          </a:xfrm>
          <a:prstGeom prst="rect">
            <a:avLst/>
          </a:prstGeom>
          <a:solidFill>
            <a:srgbClr val="EB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42231" y="2743200"/>
            <a:ext cx="128016" cy="502920"/>
          </a:xfrm>
          <a:prstGeom prst="rect">
            <a:avLst/>
          </a:prstGeom>
          <a:solidFill>
            <a:srgbClr val="E2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2743200"/>
            <a:ext cx="128016" cy="502920"/>
          </a:xfrm>
          <a:prstGeom prst="rect">
            <a:avLst/>
          </a:prstGeom>
          <a:solidFill>
            <a:srgbClr val="D9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71416" y="2743200"/>
            <a:ext cx="128016" cy="502920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636007" y="2743200"/>
            <a:ext cx="128016" cy="502920"/>
          </a:xfrm>
          <a:prstGeom prst="rect">
            <a:avLst/>
          </a:prstGeom>
          <a:solidFill>
            <a:srgbClr val="C7D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800600" y="2743200"/>
            <a:ext cx="128016" cy="502920"/>
          </a:xfrm>
          <a:prstGeom prst="rect">
            <a:avLst/>
          </a:prstGeom>
          <a:solidFill>
            <a:srgbClr val="BE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965192" y="2743200"/>
            <a:ext cx="128016" cy="502920"/>
          </a:xfrm>
          <a:prstGeom prst="rect">
            <a:avLst/>
          </a:prstGeom>
          <a:solidFill>
            <a:srgbClr val="B5C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129783" y="2743200"/>
            <a:ext cx="128016" cy="502920"/>
          </a:xfrm>
          <a:prstGeom prst="rect">
            <a:avLst/>
          </a:prstGeom>
          <a:solidFill>
            <a:srgbClr val="AC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294375" y="2743200"/>
            <a:ext cx="128016" cy="502920"/>
          </a:xfrm>
          <a:prstGeom prst="rect">
            <a:avLst/>
          </a:prstGeom>
          <a:solidFill>
            <a:srgbClr val="A3B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58968" y="2743200"/>
            <a:ext cx="128016" cy="502920"/>
          </a:xfrm>
          <a:prstGeom prst="rect">
            <a:avLst/>
          </a:prstGeom>
          <a:solidFill>
            <a:srgbClr val="9A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31920" y="3310128"/>
            <a:ext cx="274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9737D"/>
                </a:solidFill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310128"/>
            <a:ext cx="274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9737D"/>
                </a:solidFill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388620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69737D"/>
                </a:solidFill>
              </a:defRPr>
            </a:pPr>
            <a:r>
              <a:t>Sample image inspection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4343400"/>
            <a:ext cx="868680" cy="105156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407408"/>
            <a:ext cx="868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182741"/>
                </a:solidFill>
              </a:defRPr>
            </a:pPr>
            <a: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65960" y="4343400"/>
            <a:ext cx="868680" cy="105156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965960" y="4407408"/>
            <a:ext cx="868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182741"/>
                </a:solidFill>
              </a:defRPr>
            </a:pPr>
            <a:r>
              <a:t>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17520" y="4343400"/>
            <a:ext cx="868680" cy="105156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017520" y="4407408"/>
            <a:ext cx="868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182741"/>
                </a:solidFill>
              </a:defRPr>
            </a:pPr>
            <a: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69079" y="4343400"/>
            <a:ext cx="868680" cy="105156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069079" y="4407408"/>
            <a:ext cx="868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182741"/>
                </a:solidFill>
              </a:defRPr>
            </a:pPr>
            <a:r>
              <a:t>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43400"/>
            <a:ext cx="868680" cy="105156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120640" y="4407408"/>
            <a:ext cx="868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182741"/>
                </a:solidFill>
              </a:defRPr>
            </a:pPr>
            <a:r>
              <a:t>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80960" y="1371600"/>
            <a:ext cx="3840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55279" y="1627632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89691"/>
                </a:solidFill>
              </a:defRPr>
            </a:pPr>
            <a:r>
              <a:t>CHECK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2148840"/>
            <a:ext cx="3017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Shape • labels • train/test split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80960" y="3108960"/>
            <a:ext cx="38404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55279" y="3364992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6E5CAA"/>
                </a:solidFill>
              </a:defRPr>
            </a:pPr>
            <a:r>
              <a:t>NORMALIZE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38862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Convert pixel range 0–255 → 0–1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80960" y="4846320"/>
            <a:ext cx="38404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955279" y="5102352"/>
            <a:ext cx="1463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EB6F8C"/>
                </a:solidFill>
              </a:defRPr>
            </a:pPr>
            <a:r>
              <a:t>VISUALIZE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79" y="5596128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Display images before modeling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8. Machine Learning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A simple baseline for multi-class handwritten digit recognition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1206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691640"/>
            <a:ext cx="1965960" cy="347472"/>
          </a:xfrm>
          <a:prstGeom prst="round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00784"/>
            <a:ext cx="1965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LOGISTIC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023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182741"/>
                </a:solidFill>
              </a:defRPr>
            </a:pPr>
            <a:r>
              <a:t>Multi-class classifier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2971800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43000" y="3282696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43000" y="3593592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43000" y="3904487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43000" y="4215384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43000" y="4526280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43000" y="4837176"/>
            <a:ext cx="201168" cy="201168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560320" y="3337560"/>
            <a:ext cx="685800" cy="68580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60320" y="3557016"/>
            <a:ext cx="685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ML</a:t>
            </a:r>
          </a:p>
        </p:txBody>
      </p:sp>
      <p:sp>
        <p:nvSpPr>
          <p:cNvPr id="20" name="Oval 19"/>
          <p:cNvSpPr/>
          <p:nvPr/>
        </p:nvSpPr>
        <p:spPr>
          <a:xfrm>
            <a:off x="3749039" y="274320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49039" y="2788920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0</a:t>
            </a:r>
          </a:p>
        </p:txBody>
      </p:sp>
      <p:sp>
        <p:nvSpPr>
          <p:cNvPr id="22" name="Oval 21"/>
          <p:cNvSpPr/>
          <p:nvPr/>
        </p:nvSpPr>
        <p:spPr>
          <a:xfrm>
            <a:off x="4096511" y="274320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96511" y="2788920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443983" y="274320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43983" y="2788920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6" name="Oval 25"/>
          <p:cNvSpPr/>
          <p:nvPr/>
        </p:nvSpPr>
        <p:spPr>
          <a:xfrm>
            <a:off x="4791456" y="274320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91456" y="2788920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5138927" y="274320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38927" y="2788920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0" name="Oval 29"/>
          <p:cNvSpPr/>
          <p:nvPr/>
        </p:nvSpPr>
        <p:spPr>
          <a:xfrm>
            <a:off x="3749039" y="333756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9039" y="3383279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2" name="Oval 31"/>
          <p:cNvSpPr/>
          <p:nvPr/>
        </p:nvSpPr>
        <p:spPr>
          <a:xfrm>
            <a:off x="4096511" y="333756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096511" y="3383279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4" name="Oval 33"/>
          <p:cNvSpPr/>
          <p:nvPr/>
        </p:nvSpPr>
        <p:spPr>
          <a:xfrm>
            <a:off x="4443983" y="3337560"/>
            <a:ext cx="256032" cy="256032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43983" y="3383279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6" name="Oval 35"/>
          <p:cNvSpPr/>
          <p:nvPr/>
        </p:nvSpPr>
        <p:spPr>
          <a:xfrm>
            <a:off x="4791456" y="333756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91456" y="3383279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8" name="Oval 37"/>
          <p:cNvSpPr/>
          <p:nvPr/>
        </p:nvSpPr>
        <p:spPr>
          <a:xfrm>
            <a:off x="5138927" y="3337560"/>
            <a:ext cx="256032" cy="25603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38927" y="3383279"/>
            <a:ext cx="256032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344168" y="3072384"/>
            <a:ext cx="1216152" cy="603503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44168" y="3383279"/>
            <a:ext cx="1216152" cy="292608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344168" y="3675887"/>
            <a:ext cx="1216152" cy="18289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344168" y="3675887"/>
            <a:ext cx="1216152" cy="329185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44168" y="3675887"/>
            <a:ext cx="1216152" cy="640081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344168" y="3675887"/>
            <a:ext cx="1216152" cy="950977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344168" y="3675887"/>
            <a:ext cx="1216152" cy="1261873"/>
          </a:xfrm>
          <a:prstGeom prst="line">
            <a:avLst/>
          </a:prstGeom>
          <a:ln w="127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60120" y="5074920"/>
            <a:ext cx="4297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Input: 784 pixel features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5486400"/>
            <a:ext cx="4297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Output: 10 digit classes (0–9)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1417320"/>
            <a:ext cx="53492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173736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82741"/>
                </a:solidFill>
              </a:defRPr>
            </a:pPr>
            <a:r>
              <a:t>WHY THIS MODEL?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2331720"/>
            <a:ext cx="4480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3741"/>
                </a:solidFill>
              </a:defRPr>
            </a:pPr>
            <a:r>
              <a:t>• Simple supervised learning baseline</a:t>
            </a:r>
          </a:p>
          <a:p>
            <a:pPr>
              <a:spcAft>
                <a:spcPts val="1000"/>
              </a:spcAft>
              <a:defRPr sz="1400">
                <a:solidFill>
                  <a:srgbClr val="2D3741"/>
                </a:solidFill>
              </a:defRPr>
            </a:pPr>
            <a:r>
              <a:t>• Handles multi-class classification</a:t>
            </a:r>
          </a:p>
          <a:p>
            <a:pPr>
              <a:spcAft>
                <a:spcPts val="1000"/>
              </a:spcAft>
              <a:defRPr sz="1400">
                <a:solidFill>
                  <a:srgbClr val="2D3741"/>
                </a:solidFill>
              </a:defRPr>
            </a:pPr>
            <a:r>
              <a:t>• Easy to train and evaluate</a:t>
            </a:r>
          </a:p>
          <a:p>
            <a:pPr>
              <a:spcAft>
                <a:spcPts val="1000"/>
              </a:spcAft>
              <a:defRPr sz="1400">
                <a:solidFill>
                  <a:srgbClr val="2D3741"/>
                </a:solidFill>
              </a:defRPr>
            </a:pPr>
            <a:r>
              <a:t>• Works directly with flattened pixel features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89204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89691"/>
                </a:solidFill>
              </a:defRPr>
            </a:pPr>
            <a:r>
              <a:t>Training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4864608"/>
            <a:ext cx="3520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Images + labels → learned decision boundaries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8229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9. Results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Measure how accurately the model recognizes unseen digits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6576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3063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182741"/>
                </a:solidFill>
              </a:defRPr>
            </a:pPr>
            <a:r>
              <a:t>MODEL ACCURACY</a:t>
            </a:r>
          </a:p>
        </p:txBody>
      </p:sp>
      <p:sp>
        <p:nvSpPr>
          <p:cNvPr id="9" name="Oval 8"/>
          <p:cNvSpPr/>
          <p:nvPr/>
        </p:nvSpPr>
        <p:spPr>
          <a:xfrm>
            <a:off x="1325880" y="2423160"/>
            <a:ext cx="2377440" cy="237744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645920" y="2743200"/>
            <a:ext cx="1737360" cy="17373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45920" y="3218688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__%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166360"/>
            <a:ext cx="3063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69737D"/>
                </a:solidFill>
              </a:defRPr>
            </a:pPr>
            <a:r>
              <a:t>Add your actual notebook result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417320"/>
            <a:ext cx="68580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1719072"/>
            <a:ext cx="34747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CONFUSION MATRIX — 10 DIGITS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423160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41848" y="2423160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17336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92824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68312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543800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19288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494776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70264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445752" y="242316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166360" y="2715768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641848" y="2715768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17336" y="2715768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92824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068312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543800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19288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494776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70264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445752" y="271576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166360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641848" y="3008376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17336" y="3008376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92824" y="3008376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68312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543800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19288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494776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970264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445752" y="300837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166360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641848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17336" y="3300984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592824" y="3300984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068312" y="3300984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543800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019288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494776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70264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445752" y="330098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166360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5641848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117336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592824" y="3593591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068312" y="3593591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543800" y="3593591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019288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494776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970264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445752" y="359359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5166360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641848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117336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592824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068312" y="3886200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543800" y="3886200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8019288" y="3886200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494776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970264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9445752" y="3886200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66360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641848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117336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592824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7068312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7543800" y="4178808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8019288" y="4178808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494776" y="4178808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8970264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9445752" y="4178808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166360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641848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117336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592824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7068312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7543800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8019288" y="4471416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8494776" y="4471416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970264" y="4471416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9445752" y="4471416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5166360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5641848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117336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592824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7068312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7543800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019288" y="4764024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494776" y="4764024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8970264" y="4764024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9445752" y="4764024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5166360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5641848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117336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592824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7068312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7543800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8019288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8494776" y="5056631"/>
            <a:ext cx="384048" cy="2286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8970264" y="5056631"/>
            <a:ext cx="384048" cy="228600"/>
          </a:xfrm>
          <a:prstGeom prst="rect">
            <a:avLst/>
          </a:prstGeom>
          <a:solidFill>
            <a:srgbClr val="C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9445752" y="5056631"/>
            <a:ext cx="384048" cy="2286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166360" y="5486400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69737D"/>
                </a:solidFill>
              </a:defRPr>
            </a:pPr>
            <a:r>
              <a:t>Actual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61120" y="5486400"/>
            <a:ext cx="1371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69737D"/>
                </a:solidFill>
              </a:defRPr>
            </a:pPr>
            <a:r>
              <a:t>Predicted 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37760" y="5742432"/>
            <a:ext cx="3840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Diagonal cells = correct predictions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</a:defRPr>
            </a:pPr>
            <a:r>
              <a:t>10. Conclusion &amp; Future Scope</a:t>
            </a:r>
          </a:p>
        </p:txBody>
      </p:sp>
      <p:sp>
        <p:nvSpPr>
          <p:cNvPr id="5" name="Oval 4"/>
          <p:cNvSpPr/>
          <p:nvPr/>
        </p:nvSpPr>
        <p:spPr>
          <a:xfrm>
            <a:off x="4892040" y="1417320"/>
            <a:ext cx="2423160" cy="24231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92040" y="1810512"/>
            <a:ext cx="242316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IMAGE</a:t>
            </a:r>
            <a:br/>
            <a:r>
              <a:t>→</a:t>
            </a:r>
            <a:br/>
            <a:r>
              <a:t>MODEL</a:t>
            </a:r>
            <a:br/>
            <a:r>
              <a:t>→</a:t>
            </a:r>
            <a:br/>
            <a:r>
              <a:t>DIGIT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474720" cy="3520440"/>
          </a:xfrm>
          <a:prstGeom prst="roundRect">
            <a:avLst/>
          </a:prstGeom>
          <a:solidFill>
            <a:srgbClr val="22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468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BEE1E1"/>
                </a:solidFill>
              </a:defRPr>
            </a:pPr>
            <a: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975" y="2386584"/>
            <a:ext cx="2743200" cy="1549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Complete image classification workflow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MNIST provides 10 handwritten digit classes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Model performance is evaluated on unseen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508760"/>
            <a:ext cx="3474720" cy="3520440"/>
          </a:xfrm>
          <a:prstGeom prst="roundRect">
            <a:avLst/>
          </a:prstGeom>
          <a:solidFill>
            <a:srgbClr val="22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20" y="1810512"/>
            <a:ext cx="2468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BEE1E1"/>
                </a:solidFill>
              </a:defRPr>
            </a:pPr>
            <a:r>
              <a:t>FUTURE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31720"/>
            <a:ext cx="2743200" cy="1549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Try CNN for stronger image recognition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</a:t>
            </a:r>
            <a:r>
              <a:rPr dirty="0" smtClean="0">
                <a:solidFill>
                  <a:schemeClr val="tx2">
                    <a:lumMod val="20000"/>
                    <a:lumOff val="80000"/>
                  </a:schemeClr>
                </a:solidFill>
              </a:rPr>
              <a:t>Hyper</a:t>
            </a:r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</a:rPr>
              <a:t> </a:t>
            </a:r>
            <a:r>
              <a:rPr dirty="0" smtClean="0">
                <a:solidFill>
                  <a:schemeClr val="tx2">
                    <a:lumMod val="20000"/>
                    <a:lumOff val="80000"/>
                  </a:schemeClr>
                </a:solidFill>
              </a:rPr>
              <a:t>parameter </a:t>
            </a: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tuning and cross-validation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Build a simple web/app digit recognizer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66360"/>
            <a:ext cx="3840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483</Words>
  <Application>Microsoft Office PowerPoint</Application>
  <PresentationFormat>Widescreen</PresentationFormat>
  <Paragraphs>206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Alfiya Inamdar</dc:creator>
  <cp:keywords/>
  <dc:description>generated using python-pptx</dc:description>
  <cp:lastModifiedBy>Alfiya Inamdar</cp:lastModifiedBy>
  <cp:revision>3</cp:revision>
  <dcterms:created xsi:type="dcterms:W3CDTF">2013-01-27T09:14:16Z</dcterms:created>
  <dcterms:modified xsi:type="dcterms:W3CDTF">2026-09-14T01:07:30Z</dcterms:modified>
  <cp:category/>
</cp:coreProperties>
</file>